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3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657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10" Type="http://schemas.openxmlformats.org/officeDocument/2006/relationships/slide" Target="slide15.xml"/><Relationship Id="rId4" Type="http://schemas.openxmlformats.org/officeDocument/2006/relationships/slide" Target="slide4.xml"/><Relationship Id="rId9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&amp; INCIDENT RESPONSE INTERNSHIP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" y="1783080"/>
            <a:ext cx="100584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Incident</a:t>
            </a:r>
            <a:endParaRPr lang="en-US" sz="48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 Report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4937760" cy="0"/>
          </a:xfrm>
          <a:prstGeom prst="line">
            <a:avLst/>
          </a:prstGeom>
          <a:noFill/>
          <a:ln w="12700">
            <a:solidFill>
              <a:srgbClr val="2A32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Final Presentation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645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 </a:t>
            </a:r>
            <a:r>
              <a:rPr lang="en-US" sz="11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Yusra Farooq</a:t>
            </a:r>
            <a:r>
              <a:rPr lang="en-US" sz="1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4 September 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Briefing Covers</a:t>
            </a:r>
            <a:endParaRPr lang="en-US" sz="3000" dirty="0"/>
          </a:p>
        </p:txBody>
      </p:sp>
      <p:sp>
        <p:nvSpPr>
          <p:cNvPr id="5" name="Shape 3">
            <a:hlinkClick r:id="rId3" action="ppaction://hlinksldjump"/>
          </p:cNvPr>
          <p:cNvSpPr/>
          <p:nvPr/>
        </p:nvSpPr>
        <p:spPr>
          <a:xfrm>
            <a:off x="640080" y="1691640"/>
            <a:ext cx="5349240" cy="1060704"/>
          </a:xfrm>
          <a:prstGeom prst="roundRect">
            <a:avLst>
              <a:gd name="adj" fmla="val 5172"/>
            </a:avLst>
          </a:prstGeom>
          <a:solidFill>
            <a:srgbClr val="F3F3F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3794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18196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Journey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45920" y="218541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1–7 at a glance</a:t>
            </a:r>
            <a:endParaRPr lang="en-US" sz="1100" dirty="0"/>
          </a:p>
        </p:txBody>
      </p:sp>
      <p:sp>
        <p:nvSpPr>
          <p:cNvPr id="9" name="Shape 7">
            <a:hlinkClick r:id="rId4" action="ppaction://hlinksldjump"/>
          </p:cNvPr>
          <p:cNvSpPr/>
          <p:nvPr/>
        </p:nvSpPr>
        <p:spPr>
          <a:xfrm>
            <a:off x="6263640" y="1691640"/>
            <a:ext cx="5349240" cy="1060704"/>
          </a:xfrm>
          <a:prstGeom prst="roundRect">
            <a:avLst>
              <a:gd name="adj" fmla="val 5172"/>
            </a:avLst>
          </a:prstGeom>
          <a:solidFill>
            <a:srgbClr val="F3F3F1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183794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69480" y="181965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&amp; Narrative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269480" y="218541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DFIR  what actually happened</a:t>
            </a:r>
            <a:endParaRPr lang="en-US" sz="1100" dirty="0"/>
          </a:p>
        </p:txBody>
      </p:sp>
      <p:sp>
        <p:nvSpPr>
          <p:cNvPr id="13" name="Shape 11">
            <a:hlinkClick r:id="rId5" action="ppaction://hlinksldjump"/>
          </p:cNvPr>
          <p:cNvSpPr/>
          <p:nvPr/>
        </p:nvSpPr>
        <p:spPr>
          <a:xfrm>
            <a:off x="640080" y="2916936"/>
            <a:ext cx="5349240" cy="1060704"/>
          </a:xfrm>
          <a:prstGeom prst="roundRect">
            <a:avLst>
              <a:gd name="adj" fmla="val 5172"/>
            </a:avLst>
          </a:prstGeom>
          <a:solidFill>
            <a:srgbClr val="F3F3F1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063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45920" y="304495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645920" y="341071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forensic discipline applied throughout</a:t>
            </a:r>
            <a:endParaRPr lang="en-US" sz="1100" dirty="0"/>
          </a:p>
        </p:txBody>
      </p:sp>
      <p:sp>
        <p:nvSpPr>
          <p:cNvPr id="17" name="Shape 15">
            <a:hlinkClick r:id="rId6" action="ppaction://hlinksldjump"/>
          </p:cNvPr>
          <p:cNvSpPr/>
          <p:nvPr/>
        </p:nvSpPr>
        <p:spPr>
          <a:xfrm>
            <a:off x="6263640" y="2916936"/>
            <a:ext cx="5349240" cy="1060704"/>
          </a:xfrm>
          <a:prstGeom prst="roundRect">
            <a:avLst>
              <a:gd name="adj" fmla="val 5172"/>
            </a:avLst>
          </a:prstGeom>
          <a:solidFill>
            <a:srgbClr val="F3F3F1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3063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69480" y="304495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Discipline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269480" y="341071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weeks belong to this, and why</a:t>
            </a:r>
            <a:endParaRPr lang="en-US" sz="1100" dirty="0"/>
          </a:p>
        </p:txBody>
      </p:sp>
      <p:sp>
        <p:nvSpPr>
          <p:cNvPr id="21" name="Shape 19">
            <a:hlinkClick r:id="rId7" action="ppaction://hlinksldjump"/>
          </p:cNvPr>
          <p:cNvSpPr/>
          <p:nvPr/>
        </p:nvSpPr>
        <p:spPr>
          <a:xfrm>
            <a:off x="640080" y="4142232"/>
            <a:ext cx="5349240" cy="1060704"/>
          </a:xfrm>
          <a:prstGeom prst="roundRect">
            <a:avLst>
              <a:gd name="adj" fmla="val 5172"/>
            </a:avLst>
          </a:prstGeom>
          <a:solidFill>
            <a:srgbClr val="F3F3F1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28853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645920" y="42702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Attack Chain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645920" y="463600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four sources became one story</a:t>
            </a:r>
            <a:endParaRPr lang="en-US" sz="1100" dirty="0"/>
          </a:p>
        </p:txBody>
      </p:sp>
      <p:sp>
        <p:nvSpPr>
          <p:cNvPr id="25" name="Shape 23">
            <a:hlinkClick r:id="rId8" action="ppaction://hlinksldjump"/>
          </p:cNvPr>
          <p:cNvSpPr/>
          <p:nvPr/>
        </p:nvSpPr>
        <p:spPr>
          <a:xfrm>
            <a:off x="6263640" y="4142232"/>
            <a:ext cx="5349240" cy="1060704"/>
          </a:xfrm>
          <a:prstGeom prst="roundRect">
            <a:avLst>
              <a:gd name="adj" fmla="val 5172"/>
            </a:avLst>
          </a:prstGeom>
          <a:solidFill>
            <a:srgbClr val="F3F3F1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428853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69480" y="427024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by Week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269480" y="463600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week individually recovered</a:t>
            </a:r>
            <a:endParaRPr lang="en-US" sz="1100" dirty="0"/>
          </a:p>
        </p:txBody>
      </p:sp>
      <p:sp>
        <p:nvSpPr>
          <p:cNvPr id="29" name="Shape 27">
            <a:hlinkClick r:id="rId9" action="ppaction://hlinksldjump"/>
          </p:cNvPr>
          <p:cNvSpPr/>
          <p:nvPr/>
        </p:nvSpPr>
        <p:spPr>
          <a:xfrm>
            <a:off x="640080" y="5367528"/>
            <a:ext cx="5349240" cy="1060704"/>
          </a:xfrm>
          <a:prstGeom prst="roundRect">
            <a:avLst>
              <a:gd name="adj" fmla="val 5172"/>
            </a:avLst>
          </a:prstGeom>
          <a:solidFill>
            <a:srgbClr val="F3F3F1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551383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645920" y="549554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IOCs, Root Cause &amp; Impact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645920" y="586130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found, why it happened, what it cost</a:t>
            </a:r>
            <a:endParaRPr lang="en-US" sz="1100" dirty="0"/>
          </a:p>
        </p:txBody>
      </p:sp>
      <p:sp>
        <p:nvSpPr>
          <p:cNvPr id="33" name="Shape 31">
            <a:hlinkClick r:id="rId10" action="ppaction://hlinksldjump"/>
          </p:cNvPr>
          <p:cNvSpPr/>
          <p:nvPr/>
        </p:nvSpPr>
        <p:spPr>
          <a:xfrm>
            <a:off x="6263640" y="5376320"/>
            <a:ext cx="5349240" cy="1060704"/>
          </a:xfrm>
          <a:prstGeom prst="roundRect">
            <a:avLst>
              <a:gd name="adj" fmla="val 5172"/>
            </a:avLst>
          </a:prstGeom>
          <a:solidFill>
            <a:srgbClr val="F3F3F1"/>
          </a:solidFill>
          <a:ln/>
        </p:spPr>
      </p:sp>
      <p:sp>
        <p:nvSpPr>
          <p:cNvPr id="34" name="Text 32"/>
          <p:cNvSpPr/>
          <p:nvPr/>
        </p:nvSpPr>
        <p:spPr>
          <a:xfrm>
            <a:off x="6464808" y="551383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269480" y="549554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Lifecycle &amp; Recommendations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269480" y="586130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are, and what happens next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Weeks, One Case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385969" cy="1554480"/>
          </a:xfrm>
          <a:prstGeom prst="roundRect">
            <a:avLst>
              <a:gd name="adj" fmla="val 4618"/>
            </a:avLst>
          </a:prstGeom>
          <a:solidFill>
            <a:srgbClr val="17B8A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12264"/>
            <a:ext cx="13859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94944" y="2560320"/>
            <a:ext cx="1276241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27217" y="1965960"/>
            <a:ext cx="1385969" cy="1554480"/>
          </a:xfrm>
          <a:prstGeom prst="roundRect">
            <a:avLst>
              <a:gd name="adj" fmla="val 4618"/>
            </a:avLst>
          </a:prstGeom>
          <a:solidFill>
            <a:srgbClr val="E7E8E9"/>
          </a:solidFill>
          <a:ln/>
        </p:spPr>
      </p:sp>
      <p:sp>
        <p:nvSpPr>
          <p:cNvPr id="9" name="Text 7"/>
          <p:cNvSpPr/>
          <p:nvPr/>
        </p:nvSpPr>
        <p:spPr>
          <a:xfrm>
            <a:off x="2227217" y="2112264"/>
            <a:ext cx="13859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282081" y="2560320"/>
            <a:ext cx="1276241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14354" y="1965960"/>
            <a:ext cx="1385969" cy="1554480"/>
          </a:xfrm>
          <a:prstGeom prst="roundRect">
            <a:avLst>
              <a:gd name="adj" fmla="val 4618"/>
            </a:avLst>
          </a:prstGeom>
          <a:solidFill>
            <a:srgbClr val="E7E8E9"/>
          </a:solidFill>
          <a:ln/>
        </p:spPr>
      </p:sp>
      <p:sp>
        <p:nvSpPr>
          <p:cNvPr id="12" name="Text 10"/>
          <p:cNvSpPr/>
          <p:nvPr/>
        </p:nvSpPr>
        <p:spPr>
          <a:xfrm>
            <a:off x="3814354" y="2112264"/>
            <a:ext cx="13859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69218" y="2560320"/>
            <a:ext cx="1276241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01491" y="1965960"/>
            <a:ext cx="1385969" cy="1554480"/>
          </a:xfrm>
          <a:prstGeom prst="roundRect">
            <a:avLst>
              <a:gd name="adj" fmla="val 4618"/>
            </a:avLst>
          </a:prstGeom>
          <a:solidFill>
            <a:srgbClr val="17B8AC"/>
          </a:solidFill>
          <a:ln/>
        </p:spPr>
      </p:sp>
      <p:sp>
        <p:nvSpPr>
          <p:cNvPr id="15" name="Text 13"/>
          <p:cNvSpPr/>
          <p:nvPr/>
        </p:nvSpPr>
        <p:spPr>
          <a:xfrm>
            <a:off x="5401491" y="2112264"/>
            <a:ext cx="13859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56355" y="2560320"/>
            <a:ext cx="1276241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&amp;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88629" y="1965960"/>
            <a:ext cx="1385969" cy="1554480"/>
          </a:xfrm>
          <a:prstGeom prst="roundRect">
            <a:avLst>
              <a:gd name="adj" fmla="val 4618"/>
            </a:avLst>
          </a:prstGeom>
          <a:solidFill>
            <a:srgbClr val="17B8AC"/>
          </a:solidFill>
          <a:ln/>
        </p:spPr>
      </p:sp>
      <p:sp>
        <p:nvSpPr>
          <p:cNvPr id="18" name="Text 16"/>
          <p:cNvSpPr/>
          <p:nvPr/>
        </p:nvSpPr>
        <p:spPr>
          <a:xfrm>
            <a:off x="6988629" y="2112264"/>
            <a:ext cx="13859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043493" y="2560320"/>
            <a:ext cx="1276241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75766" y="1965960"/>
            <a:ext cx="1385969" cy="1554480"/>
          </a:xfrm>
          <a:prstGeom prst="roundRect">
            <a:avLst>
              <a:gd name="adj" fmla="val 4618"/>
            </a:avLst>
          </a:prstGeom>
          <a:solidFill>
            <a:srgbClr val="17B8AC"/>
          </a:solidFill>
          <a:ln/>
        </p:spPr>
      </p:sp>
      <p:sp>
        <p:nvSpPr>
          <p:cNvPr id="21" name="Text 19"/>
          <p:cNvSpPr/>
          <p:nvPr/>
        </p:nvSpPr>
        <p:spPr>
          <a:xfrm>
            <a:off x="8575766" y="2112264"/>
            <a:ext cx="13859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W6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30630" y="2560320"/>
            <a:ext cx="1276241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162903" y="1965960"/>
            <a:ext cx="1385969" cy="1554480"/>
          </a:xfrm>
          <a:prstGeom prst="roundRect">
            <a:avLst>
              <a:gd name="adj" fmla="val 4618"/>
            </a:avLst>
          </a:prstGeom>
          <a:solidFill>
            <a:srgbClr val="17B8AC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2903" y="2112264"/>
            <a:ext cx="13859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W7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217767" y="2560320"/>
            <a:ext cx="1276241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749040"/>
            <a:ext cx="164592" cy="164592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27" name="Text 25"/>
          <p:cNvSpPr/>
          <p:nvPr/>
        </p:nvSpPr>
        <p:spPr>
          <a:xfrm>
            <a:off x="859536" y="3685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: Case DFIR-2026-0714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931920" y="3749040"/>
            <a:ext cx="164592" cy="164592"/>
          </a:xfrm>
          <a:prstGeom prst="rect">
            <a:avLst/>
          </a:prstGeom>
          <a:solidFill>
            <a:srgbClr val="E7E8E9"/>
          </a:solidFill>
          <a:ln/>
        </p:spPr>
      </p:sp>
      <p:sp>
        <p:nvSpPr>
          <p:cNvPr id="29" name="Text 27"/>
          <p:cNvSpPr/>
          <p:nvPr/>
        </p:nvSpPr>
        <p:spPr>
          <a:xfrm>
            <a:off x="4151376" y="36850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skills exercise : excluded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4251960"/>
            <a:ext cx="10908792" cy="1051560"/>
          </a:xfrm>
          <a:prstGeom prst="roundRect">
            <a:avLst>
              <a:gd name="adj" fmla="val 5217"/>
            </a:avLst>
          </a:prstGeom>
          <a:solidFill>
            <a:srgbClr val="F3F3F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14400" y="437083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1, 4, 5, 6 and 7 investigate Case DFIR-2026-0714. Weeks 2 and 3 were procedural skills exercises on unrelated evidence explicitly excluded from the case, not silently dropped.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14400" y="482803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consolidates every in-scope week into one defensible incident investigation report and to present it.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36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37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  <p:sp>
        <p:nvSpPr>
          <p:cNvPr id="38" name="ProgressDot1"/>
          <p:cNvSpPr/>
          <p:nvPr/>
        </p:nvSpPr>
        <p:spPr>
          <a:xfrm>
            <a:off x="5642160" y="175260"/>
            <a:ext cx="60960" cy="6096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sp>
        <p:nvSpPr>
          <p:cNvPr id="39" name="ProgressDot2"/>
          <p:cNvSpPr/>
          <p:nvPr/>
        </p:nvSpPr>
        <p:spPr>
          <a:xfrm>
            <a:off x="57631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0" name="ProgressDot3"/>
          <p:cNvSpPr/>
          <p:nvPr/>
        </p:nvSpPr>
        <p:spPr>
          <a:xfrm>
            <a:off x="58840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1" name="ProgressDot4"/>
          <p:cNvSpPr/>
          <p:nvPr/>
        </p:nvSpPr>
        <p:spPr>
          <a:xfrm>
            <a:off x="600504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2" name="ProgressDot5"/>
          <p:cNvSpPr/>
          <p:nvPr/>
        </p:nvSpPr>
        <p:spPr>
          <a:xfrm>
            <a:off x="612600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3" name="ProgressDot6"/>
          <p:cNvSpPr/>
          <p:nvPr/>
        </p:nvSpPr>
        <p:spPr>
          <a:xfrm>
            <a:off x="62469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4" name="ProgressDot7"/>
          <p:cNvSpPr/>
          <p:nvPr/>
        </p:nvSpPr>
        <p:spPr>
          <a:xfrm>
            <a:off x="63679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5" name="ProgressDot8"/>
          <p:cNvSpPr/>
          <p:nvPr/>
        </p:nvSpPr>
        <p:spPr>
          <a:xfrm>
            <a:off x="64888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DFIR-2026-0714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35174" cy="1371600"/>
          </a:xfrm>
          <a:prstGeom prst="roundRect">
            <a:avLst>
              <a:gd name="adj" fmla="val 4667"/>
            </a:avLst>
          </a:prstGeom>
          <a:solidFill>
            <a:srgbClr val="0E121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01368"/>
            <a:ext cx="253517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3522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31286" y="1691640"/>
            <a:ext cx="2535174" cy="1371600"/>
          </a:xfrm>
          <a:prstGeom prst="roundRect">
            <a:avLst>
              <a:gd name="adj" fmla="val 4667"/>
            </a:avLst>
          </a:prstGeom>
          <a:solidFill>
            <a:srgbClr val="0E1218"/>
          </a:solidFill>
          <a:ln/>
        </p:spPr>
      </p:sp>
      <p:sp>
        <p:nvSpPr>
          <p:cNvPr id="9" name="Text 7"/>
          <p:cNvSpPr/>
          <p:nvPr/>
        </p:nvSpPr>
        <p:spPr>
          <a:xfrm>
            <a:off x="3431286" y="1801368"/>
            <a:ext cx="253517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22726" y="2560320"/>
            <a:ext cx="23522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Active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2492" y="1691640"/>
            <a:ext cx="2535174" cy="1371600"/>
          </a:xfrm>
          <a:prstGeom prst="roundRect">
            <a:avLst>
              <a:gd name="adj" fmla="val 4667"/>
            </a:avLst>
          </a:prstGeom>
          <a:solidFill>
            <a:srgbClr val="0E1218"/>
          </a:solidFill>
          <a:ln/>
        </p:spPr>
      </p:sp>
      <p:sp>
        <p:nvSpPr>
          <p:cNvPr id="12" name="Text 10"/>
          <p:cNvSpPr/>
          <p:nvPr/>
        </p:nvSpPr>
        <p:spPr>
          <a:xfrm>
            <a:off x="6222492" y="1801368"/>
            <a:ext cx="253517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313932" y="2560320"/>
            <a:ext cx="23522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Waves,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13698" y="1691640"/>
            <a:ext cx="2535174" cy="1371600"/>
          </a:xfrm>
          <a:prstGeom prst="roundRect">
            <a:avLst>
              <a:gd name="adj" fmla="val 4667"/>
            </a:avLst>
          </a:prstGeom>
          <a:solidFill>
            <a:srgbClr val="0E1218"/>
          </a:solidFill>
          <a:ln/>
        </p:spPr>
      </p:sp>
      <p:sp>
        <p:nvSpPr>
          <p:cNvPr id="15" name="Text 13"/>
          <p:cNvSpPr/>
          <p:nvPr/>
        </p:nvSpPr>
        <p:spPr>
          <a:xfrm>
            <a:off x="9013698" y="1801368"/>
            <a:ext cx="253517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105138" y="2560320"/>
            <a:ext cx="235229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Stolen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NexBank Corp was targeted twice by the same phishing infrastructure 13 July and 19 August 2026 using look-alike domains and a spoofed internal IT-helpdesk identity.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251960"/>
            <a:ext cx="10908792" cy="0"/>
          </a:xfrm>
          <a:prstGeom prst="line">
            <a:avLst/>
          </a:prstGeom>
          <a:noFill/>
          <a:ln w="12700">
            <a:solidFill>
              <a:srgbClr val="DCDD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251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domains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432511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secure-it-service.net,  freegiftcards-claim.net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10908792" cy="0"/>
          </a:xfrm>
          <a:prstGeom prst="line">
            <a:avLst/>
          </a:prstGeom>
          <a:noFill/>
          <a:ln w="12700">
            <a:solidFill>
              <a:srgbClr val="DCDD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8280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Credential-harvest domain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482803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mail-secure-portal.com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908792" cy="0"/>
          </a:xfrm>
          <a:prstGeom prst="line">
            <a:avLst/>
          </a:prstGeom>
          <a:noFill/>
          <a:ln w="12700">
            <a:solidFill>
              <a:srgbClr val="DCDD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3309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block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533095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185.220.101.0/24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760720"/>
            <a:ext cx="10908792" cy="0"/>
          </a:xfrm>
          <a:prstGeom prst="line">
            <a:avLst/>
          </a:prstGeom>
          <a:noFill/>
          <a:ln w="12700">
            <a:solidFill>
              <a:srgbClr val="DCDD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31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32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  <p:sp>
        <p:nvSpPr>
          <p:cNvPr id="33" name="ProgressDot1"/>
          <p:cNvSpPr/>
          <p:nvPr/>
        </p:nvSpPr>
        <p:spPr>
          <a:xfrm>
            <a:off x="56421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4" name="ProgressDot2"/>
          <p:cNvSpPr/>
          <p:nvPr/>
        </p:nvSpPr>
        <p:spPr>
          <a:xfrm>
            <a:off x="5763120" y="175260"/>
            <a:ext cx="60960" cy="6096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sp>
        <p:nvSpPr>
          <p:cNvPr id="35" name="ProgressDot3"/>
          <p:cNvSpPr/>
          <p:nvPr/>
        </p:nvSpPr>
        <p:spPr>
          <a:xfrm>
            <a:off x="58840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6" name="ProgressDot4"/>
          <p:cNvSpPr/>
          <p:nvPr/>
        </p:nvSpPr>
        <p:spPr>
          <a:xfrm>
            <a:off x="600504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7" name="ProgressDot5"/>
          <p:cNvSpPr/>
          <p:nvPr/>
        </p:nvSpPr>
        <p:spPr>
          <a:xfrm>
            <a:off x="612600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8" name="ProgressDot6"/>
          <p:cNvSpPr/>
          <p:nvPr/>
        </p:nvSpPr>
        <p:spPr>
          <a:xfrm>
            <a:off x="62469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9" name="ProgressDot7"/>
          <p:cNvSpPr/>
          <p:nvPr/>
        </p:nvSpPr>
        <p:spPr>
          <a:xfrm>
            <a:off x="63679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0" name="ProgressDot8"/>
          <p:cNvSpPr/>
          <p:nvPr/>
        </p:nvSpPr>
        <p:spPr>
          <a:xfrm>
            <a:off x="64888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Happened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57807" y="1737360"/>
            <a:ext cx="8873338" cy="0"/>
          </a:xfrm>
          <a:prstGeom prst="line">
            <a:avLst/>
          </a:prstGeom>
          <a:noFill/>
          <a:ln w="19050">
            <a:solidFill>
              <a:srgbClr val="DC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38351" y="1517904"/>
            <a:ext cx="438912" cy="438912"/>
          </a:xfrm>
          <a:prstGeom prst="ellipse">
            <a:avLst/>
          </a:prstGeom>
          <a:solidFill>
            <a:srgbClr val="0E1218"/>
          </a:solidFill>
          <a:ln/>
        </p:spPr>
      </p:sp>
      <p:sp>
        <p:nvSpPr>
          <p:cNvPr id="7" name="Text 5"/>
          <p:cNvSpPr/>
          <p:nvPr/>
        </p:nvSpPr>
        <p:spPr>
          <a:xfrm>
            <a:off x="1438351" y="15179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75688"/>
            <a:ext cx="20354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Jul, morning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2035454" cy="3108960"/>
          </a:xfrm>
          <a:prstGeom prst="roundRect">
            <a:avLst>
              <a:gd name="adj" fmla="val 2695"/>
            </a:avLst>
          </a:prstGeom>
          <a:solidFill>
            <a:srgbClr val="F3F3F1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743200"/>
            <a:ext cx="177942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credential-harvesting email lands at m.tariq@nexbank-corp.com, posing as an IT Service Desk storage warning.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6686" y="1517904"/>
            <a:ext cx="438912" cy="438912"/>
          </a:xfrm>
          <a:prstGeom prst="ellipse">
            <a:avLst/>
          </a:prstGeom>
          <a:solidFill>
            <a:srgbClr val="0E121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6686" y="15179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58414" y="2075688"/>
            <a:ext cx="20354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Jul, same session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58414" y="2606040"/>
            <a:ext cx="2035454" cy="3108960"/>
          </a:xfrm>
          <a:prstGeom prst="roundRect">
            <a:avLst>
              <a:gd name="adj" fmla="val 2695"/>
            </a:avLst>
          </a:prstGeom>
          <a:solidFill>
            <a:srgbClr val="F3F3F1"/>
          </a:solidFill>
          <a:ln/>
        </p:spPr>
      </p:sp>
      <p:sp>
        <p:nvSpPr>
          <p:cNvPr id="15" name="Text 13"/>
          <p:cNvSpPr/>
          <p:nvPr/>
        </p:nvSpPr>
        <p:spPr>
          <a:xfrm>
            <a:off x="2986430" y="2743200"/>
            <a:ext cx="177942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verification link is clicked; a second, reward-themed email arrives with a disguised executable attached.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75020" y="1517904"/>
            <a:ext cx="438912" cy="438912"/>
          </a:xfrm>
          <a:prstGeom prst="ellipse">
            <a:avLst/>
          </a:prstGeom>
          <a:solidFill>
            <a:srgbClr val="0E1218"/>
          </a:solidFill>
          <a:ln/>
        </p:spPr>
      </p:sp>
      <p:sp>
        <p:nvSpPr>
          <p:cNvPr id="17" name="Text 15"/>
          <p:cNvSpPr/>
          <p:nvPr/>
        </p:nvSpPr>
        <p:spPr>
          <a:xfrm>
            <a:off x="5875020" y="15179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76749" y="2075688"/>
            <a:ext cx="20354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July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6749" y="2606040"/>
            <a:ext cx="2035454" cy="3108960"/>
          </a:xfrm>
          <a:prstGeom prst="roundRect">
            <a:avLst>
              <a:gd name="adj" fmla="val 2695"/>
            </a:avLst>
          </a:prstGeom>
          <a:solidFill>
            <a:srgbClr val="F3F3F1"/>
          </a:solidFill>
          <a:ln/>
        </p:spPr>
      </p:sp>
      <p:sp>
        <p:nvSpPr>
          <p:cNvPr id="20" name="Text 18"/>
          <p:cNvSpPr/>
          <p:nvPr/>
        </p:nvSpPr>
        <p:spPr>
          <a:xfrm>
            <a:off x="5204765" y="2743200"/>
            <a:ext cx="177942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attachment is downloaded and a hidden connection opens to a raw external IP  185.220.101.47.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3354" y="1517904"/>
            <a:ext cx="438912" cy="438912"/>
          </a:xfrm>
          <a:prstGeom prst="ellipse">
            <a:avLst/>
          </a:prstGeom>
          <a:solidFill>
            <a:srgbClr val="0E1218"/>
          </a:solidFill>
          <a:ln/>
        </p:spPr>
      </p:sp>
      <p:sp>
        <p:nvSpPr>
          <p:cNvPr id="22" name="Text 20"/>
          <p:cNvSpPr/>
          <p:nvPr/>
        </p:nvSpPr>
        <p:spPr>
          <a:xfrm>
            <a:off x="8093354" y="15179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47837" y="2058807"/>
            <a:ext cx="20354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95083" y="2606040"/>
            <a:ext cx="2035454" cy="3108960"/>
          </a:xfrm>
          <a:prstGeom prst="roundRect">
            <a:avLst>
              <a:gd name="adj" fmla="val 2695"/>
            </a:avLst>
          </a:prstGeom>
          <a:solidFill>
            <a:srgbClr val="F3F3F1"/>
          </a:solidFill>
          <a:ln/>
        </p:spPr>
      </p:sp>
      <p:sp>
        <p:nvSpPr>
          <p:cNvPr id="25" name="Text 23"/>
          <p:cNvSpPr/>
          <p:nvPr/>
        </p:nvSpPr>
        <p:spPr>
          <a:xfrm>
            <a:off x="7423099" y="2743200"/>
            <a:ext cx="177942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memory forensics finds that exact IP still active as C2, alongside a stolen admin credential and an exfil marker.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311689" y="1517904"/>
            <a:ext cx="438912" cy="438912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27" name="Text 25"/>
          <p:cNvSpPr/>
          <p:nvPr/>
        </p:nvSpPr>
        <p:spPr>
          <a:xfrm>
            <a:off x="10311689" y="15179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513418" y="2075688"/>
            <a:ext cx="20354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Aug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513418" y="2606040"/>
            <a:ext cx="2035454" cy="3108960"/>
          </a:xfrm>
          <a:prstGeom prst="roundRect">
            <a:avLst>
              <a:gd name="adj" fmla="val 2695"/>
            </a:avLst>
          </a:prstGeom>
          <a:solidFill>
            <a:srgbClr val="F3F3F1"/>
          </a:solidFill>
          <a:ln/>
        </p:spPr>
      </p:sp>
      <p:sp>
        <p:nvSpPr>
          <p:cNvPr id="30" name="Text 28"/>
          <p:cNvSpPr/>
          <p:nvPr/>
        </p:nvSpPr>
        <p:spPr>
          <a:xfrm>
            <a:off x="9641434" y="2743200"/>
            <a:ext cx="177942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infrastructure is reused in a second wave against h.tariq@nexbank-corp.com, confirmed via matching static IOCs.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34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35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  <p:sp>
        <p:nvSpPr>
          <p:cNvPr id="36" name="ProgressDot1"/>
          <p:cNvSpPr/>
          <p:nvPr/>
        </p:nvSpPr>
        <p:spPr>
          <a:xfrm>
            <a:off x="56421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7" name="ProgressDot2"/>
          <p:cNvSpPr/>
          <p:nvPr/>
        </p:nvSpPr>
        <p:spPr>
          <a:xfrm>
            <a:off x="5763120" y="175260"/>
            <a:ext cx="60960" cy="6096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sp>
        <p:nvSpPr>
          <p:cNvPr id="38" name="ProgressDot3"/>
          <p:cNvSpPr/>
          <p:nvPr/>
        </p:nvSpPr>
        <p:spPr>
          <a:xfrm>
            <a:off x="58840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9" name="ProgressDot4"/>
          <p:cNvSpPr/>
          <p:nvPr/>
        </p:nvSpPr>
        <p:spPr>
          <a:xfrm>
            <a:off x="600504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0" name="ProgressDot5"/>
          <p:cNvSpPr/>
          <p:nvPr/>
        </p:nvSpPr>
        <p:spPr>
          <a:xfrm>
            <a:off x="612600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1" name="ProgressDot6"/>
          <p:cNvSpPr/>
          <p:nvPr/>
        </p:nvSpPr>
        <p:spPr>
          <a:xfrm>
            <a:off x="62469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2" name="ProgressDot7"/>
          <p:cNvSpPr/>
          <p:nvPr/>
        </p:nvSpPr>
        <p:spPr>
          <a:xfrm>
            <a:off x="63679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3" name="ProgressDot8"/>
          <p:cNvSpPr/>
          <p:nvPr/>
        </p:nvSpPr>
        <p:spPr>
          <a:xfrm>
            <a:off x="64888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Discipline Behind the Findings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35174" cy="3657600"/>
          </a:xfrm>
          <a:prstGeom prst="roundRect">
            <a:avLst>
              <a:gd name="adj" fmla="val 2525"/>
            </a:avLst>
          </a:prstGeom>
          <a:solidFill>
            <a:srgbClr val="F3F3F1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2066544"/>
            <a:ext cx="502920" cy="502920"/>
          </a:xfrm>
          <a:prstGeom prst="ellipse">
            <a:avLst/>
          </a:prstGeom>
          <a:solidFill>
            <a:srgbClr val="0E1218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066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2743200"/>
            <a:ext cx="209626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Volatility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3337560"/>
            <a:ext cx="209626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what disappears fastest first  memory before disk, disk before backups.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1286" y="1828800"/>
            <a:ext cx="2535174" cy="3657600"/>
          </a:xfrm>
          <a:prstGeom prst="roundRect">
            <a:avLst>
              <a:gd name="adj" fmla="val 2525"/>
            </a:avLst>
          </a:prstGeom>
          <a:solidFill>
            <a:srgbClr val="F3F3F1"/>
          </a:solidFill>
          <a:ln/>
        </p:spPr>
      </p:sp>
      <p:sp>
        <p:nvSpPr>
          <p:cNvPr id="11" name="Shape 9"/>
          <p:cNvSpPr/>
          <p:nvPr/>
        </p:nvSpPr>
        <p:spPr>
          <a:xfrm>
            <a:off x="3650742" y="2066544"/>
            <a:ext cx="502920" cy="502920"/>
          </a:xfrm>
          <a:prstGeom prst="ellipse">
            <a:avLst/>
          </a:prstGeom>
          <a:solidFill>
            <a:srgbClr val="0E121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0742" y="2066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0742" y="2743200"/>
            <a:ext cx="209626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0742" y="3337560"/>
            <a:ext cx="209626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acquisition logged; originals never touched directly only hash-verified working copies.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22492" y="1828800"/>
            <a:ext cx="2535174" cy="3657600"/>
          </a:xfrm>
          <a:prstGeom prst="roundRect">
            <a:avLst>
              <a:gd name="adj" fmla="val 2525"/>
            </a:avLst>
          </a:prstGeom>
          <a:solidFill>
            <a:srgbClr val="F3F3F1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1948" y="2066544"/>
            <a:ext cx="502920" cy="502920"/>
          </a:xfrm>
          <a:prstGeom prst="ellipse">
            <a:avLst/>
          </a:prstGeom>
          <a:solidFill>
            <a:srgbClr val="0E1218"/>
          </a:solidFill>
          <a:ln/>
        </p:spPr>
      </p:sp>
      <p:sp>
        <p:nvSpPr>
          <p:cNvPr id="17" name="Text 15"/>
          <p:cNvSpPr/>
          <p:nvPr/>
        </p:nvSpPr>
        <p:spPr>
          <a:xfrm>
            <a:off x="6441948" y="2066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1948" y="2743200"/>
            <a:ext cx="209626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at Acquisition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1948" y="3337560"/>
            <a:ext cx="209626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computed the moment every artifact was preserved, before analysis began.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13698" y="1828800"/>
            <a:ext cx="2535174" cy="3657600"/>
          </a:xfrm>
          <a:prstGeom prst="roundRect">
            <a:avLst>
              <a:gd name="adj" fmla="val 2525"/>
            </a:avLst>
          </a:prstGeom>
          <a:solidFill>
            <a:srgbClr val="F3F3F1"/>
          </a:solidFill>
          <a:ln/>
        </p:spPr>
      </p:sp>
      <p:sp>
        <p:nvSpPr>
          <p:cNvPr id="21" name="Shape 19"/>
          <p:cNvSpPr/>
          <p:nvPr/>
        </p:nvSpPr>
        <p:spPr>
          <a:xfrm>
            <a:off x="9233154" y="2066544"/>
            <a:ext cx="502920" cy="502920"/>
          </a:xfrm>
          <a:prstGeom prst="ellipse">
            <a:avLst/>
          </a:prstGeom>
          <a:solidFill>
            <a:srgbClr val="0E1218"/>
          </a:solidFill>
          <a:ln/>
        </p:spPr>
      </p:sp>
      <p:sp>
        <p:nvSpPr>
          <p:cNvPr id="22" name="Text 20"/>
          <p:cNvSpPr/>
          <p:nvPr/>
        </p:nvSpPr>
        <p:spPr>
          <a:xfrm>
            <a:off x="9233154" y="2066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33154" y="2743200"/>
            <a:ext cx="209626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Confidence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33154" y="3337560"/>
            <a:ext cx="209626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timestamp tagged Exact or Approximate.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28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29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  <p:sp>
        <p:nvSpPr>
          <p:cNvPr id="30" name="ProgressDot1"/>
          <p:cNvSpPr/>
          <p:nvPr/>
        </p:nvSpPr>
        <p:spPr>
          <a:xfrm>
            <a:off x="56421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1" name="ProgressDot2"/>
          <p:cNvSpPr/>
          <p:nvPr/>
        </p:nvSpPr>
        <p:spPr>
          <a:xfrm>
            <a:off x="57631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2" name="ProgressDot3"/>
          <p:cNvSpPr/>
          <p:nvPr/>
        </p:nvSpPr>
        <p:spPr>
          <a:xfrm>
            <a:off x="5884080" y="175260"/>
            <a:ext cx="60960" cy="6096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sp>
        <p:nvSpPr>
          <p:cNvPr id="33" name="ProgressDot4"/>
          <p:cNvSpPr/>
          <p:nvPr/>
        </p:nvSpPr>
        <p:spPr>
          <a:xfrm>
            <a:off x="600504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4" name="ProgressDot5"/>
          <p:cNvSpPr/>
          <p:nvPr/>
        </p:nvSpPr>
        <p:spPr>
          <a:xfrm>
            <a:off x="612600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5" name="ProgressDot6"/>
          <p:cNvSpPr/>
          <p:nvPr/>
        </p:nvSpPr>
        <p:spPr>
          <a:xfrm>
            <a:off x="62469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6" name="ProgressDot7"/>
          <p:cNvSpPr/>
          <p:nvPr/>
        </p:nvSpPr>
        <p:spPr>
          <a:xfrm>
            <a:off x="63679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7" name="ProgressDot8"/>
          <p:cNvSpPr/>
          <p:nvPr/>
        </p:nvSpPr>
        <p:spPr>
          <a:xfrm>
            <a:off x="64888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Digital Forensics Process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559052" cy="2103120"/>
          </a:xfrm>
          <a:prstGeom prst="roundRect">
            <a:avLst>
              <a:gd name="adj" fmla="val 4106"/>
            </a:avLst>
          </a:prstGeom>
          <a:solidFill>
            <a:srgbClr val="0E1218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505456"/>
            <a:ext cx="12847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86384" y="2907792"/>
            <a:ext cx="12847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3429000"/>
            <a:ext cx="12847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an incident occurred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99132" y="306324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10028" y="2377440"/>
            <a:ext cx="1559052" cy="2103120"/>
          </a:xfrm>
          <a:prstGeom prst="roundRect">
            <a:avLst>
              <a:gd name="adj" fmla="val 4106"/>
            </a:avLst>
          </a:prstGeom>
          <a:solidFill>
            <a:srgbClr val="0E1218"/>
          </a:solidFill>
          <a:ln/>
        </p:spPr>
      </p:sp>
      <p:sp>
        <p:nvSpPr>
          <p:cNvPr id="11" name="Text 9"/>
          <p:cNvSpPr/>
          <p:nvPr/>
        </p:nvSpPr>
        <p:spPr>
          <a:xfrm>
            <a:off x="2656332" y="2505456"/>
            <a:ext cx="12847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56332" y="2907792"/>
            <a:ext cx="12847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6332" y="3429000"/>
            <a:ext cx="12847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evidence so it can’t be altered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69080" y="306324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79976" y="2377440"/>
            <a:ext cx="1559052" cy="2103120"/>
          </a:xfrm>
          <a:prstGeom prst="roundRect">
            <a:avLst>
              <a:gd name="adj" fmla="val 4106"/>
            </a:avLst>
          </a:prstGeom>
          <a:solidFill>
            <a:srgbClr val="0E1218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505456"/>
            <a:ext cx="12847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6280" y="2907792"/>
            <a:ext cx="12847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3429000"/>
            <a:ext cx="12847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evidence soundly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39028" y="306324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49924" y="2377440"/>
            <a:ext cx="1559052" cy="2103120"/>
          </a:xfrm>
          <a:prstGeom prst="roundRect">
            <a:avLst>
              <a:gd name="adj" fmla="val 4106"/>
            </a:avLst>
          </a:prstGeom>
          <a:solidFill>
            <a:srgbClr val="0E1218"/>
          </a:solidFill>
          <a:ln/>
        </p:spPr>
      </p:sp>
      <p:sp>
        <p:nvSpPr>
          <p:cNvPr id="21" name="Text 19"/>
          <p:cNvSpPr/>
          <p:nvPr/>
        </p:nvSpPr>
        <p:spPr>
          <a:xfrm>
            <a:off x="6396228" y="2505456"/>
            <a:ext cx="12847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96228" y="2907792"/>
            <a:ext cx="12847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96228" y="3429000"/>
            <a:ext cx="12847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relevant data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08976" y="306324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119872" y="2377440"/>
            <a:ext cx="1559052" cy="2103120"/>
          </a:xfrm>
          <a:prstGeom prst="roundRect">
            <a:avLst>
              <a:gd name="adj" fmla="val 4106"/>
            </a:avLst>
          </a:prstGeom>
          <a:solidFill>
            <a:srgbClr val="0E1218"/>
          </a:solidFill>
          <a:ln/>
        </p:spPr>
      </p:sp>
      <p:sp>
        <p:nvSpPr>
          <p:cNvPr id="26" name="Text 24"/>
          <p:cNvSpPr/>
          <p:nvPr/>
        </p:nvSpPr>
        <p:spPr>
          <a:xfrm>
            <a:off x="8266176" y="2505456"/>
            <a:ext cx="12847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66176" y="2907792"/>
            <a:ext cx="12847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66176" y="3429000"/>
            <a:ext cx="12847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7C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the data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678924" y="306324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89820" y="2377440"/>
            <a:ext cx="1559052" cy="2103120"/>
          </a:xfrm>
          <a:prstGeom prst="roundRect">
            <a:avLst>
              <a:gd name="adj" fmla="val 4106"/>
            </a:avLst>
          </a:prstGeom>
          <a:solidFill>
            <a:srgbClr val="17B8AC"/>
          </a:solidFill>
          <a:ln/>
        </p:spPr>
      </p:sp>
      <p:sp>
        <p:nvSpPr>
          <p:cNvPr id="31" name="Text 29"/>
          <p:cNvSpPr/>
          <p:nvPr/>
        </p:nvSpPr>
        <p:spPr>
          <a:xfrm>
            <a:off x="10136124" y="2505456"/>
            <a:ext cx="12847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136124" y="2907792"/>
            <a:ext cx="12847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136124" y="3429000"/>
            <a:ext cx="12847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FF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findings clearly (this report)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6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37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38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  <p:sp>
        <p:nvSpPr>
          <p:cNvPr id="39" name="ProgressDot1"/>
          <p:cNvSpPr/>
          <p:nvPr/>
        </p:nvSpPr>
        <p:spPr>
          <a:xfrm>
            <a:off x="56421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0" name="ProgressDot2"/>
          <p:cNvSpPr/>
          <p:nvPr/>
        </p:nvSpPr>
        <p:spPr>
          <a:xfrm>
            <a:off x="57631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1" name="ProgressDot3"/>
          <p:cNvSpPr/>
          <p:nvPr/>
        </p:nvSpPr>
        <p:spPr>
          <a:xfrm>
            <a:off x="5884080" y="175260"/>
            <a:ext cx="60960" cy="6096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sp>
        <p:nvSpPr>
          <p:cNvPr id="42" name="ProgressDot4"/>
          <p:cNvSpPr/>
          <p:nvPr/>
        </p:nvSpPr>
        <p:spPr>
          <a:xfrm>
            <a:off x="600504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3" name="ProgressDot5"/>
          <p:cNvSpPr/>
          <p:nvPr/>
        </p:nvSpPr>
        <p:spPr>
          <a:xfrm>
            <a:off x="612600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4" name="ProgressDot6"/>
          <p:cNvSpPr/>
          <p:nvPr/>
        </p:nvSpPr>
        <p:spPr>
          <a:xfrm>
            <a:off x="62469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5" name="ProgressDot7"/>
          <p:cNvSpPr/>
          <p:nvPr/>
        </p:nvSpPr>
        <p:spPr>
          <a:xfrm>
            <a:off x="63679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6" name="ProgressDot8"/>
          <p:cNvSpPr/>
          <p:nvPr/>
        </p:nvSpPr>
        <p:spPr>
          <a:xfrm>
            <a:off x="64888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DISCIPLINE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Weeks Belong to This Case?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783080" y="169164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/ Context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17720" y="169164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37960" y="1691640"/>
            <a:ext cx="4965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258568"/>
            <a:ext cx="10908792" cy="0"/>
          </a:xfrm>
          <a:prstGeom prst="line">
            <a:avLst/>
          </a:prstGeom>
          <a:noFill/>
          <a:ln w="19050">
            <a:solidFill>
              <a:srgbClr val="DC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258568"/>
            <a:ext cx="1090879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5856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783080" y="225856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DFIR-2026-0714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17720" y="235915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7F5EA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35915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37960" y="2258568"/>
            <a:ext cx="4965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case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2825496"/>
            <a:ext cx="10908792" cy="0"/>
          </a:xfrm>
          <a:prstGeom prst="line">
            <a:avLst/>
          </a:prstGeom>
          <a:noFill/>
          <a:ln w="9525">
            <a:solidFill>
              <a:srgbClr val="DCDD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825496"/>
            <a:ext cx="10908792" cy="566928"/>
          </a:xfrm>
          <a:prstGeom prst="rect">
            <a:avLst/>
          </a:prstGeom>
          <a:solidFill>
            <a:srgbClr val="F3F3F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25496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783080" y="282549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CF-2026-W2-DI01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17720" y="29260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7960" y="2825496"/>
            <a:ext cx="4965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disk-imaging exercise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392424"/>
            <a:ext cx="10908792" cy="0"/>
          </a:xfrm>
          <a:prstGeom prst="line">
            <a:avLst/>
          </a:prstGeom>
          <a:noFill/>
          <a:ln w="9525">
            <a:solidFill>
              <a:srgbClr val="DC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392424"/>
            <a:ext cx="1090879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392424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783080" y="339242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host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17720" y="349300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/>
        </p:spPr>
      </p:sp>
      <p:sp>
        <p:nvSpPr>
          <p:cNvPr id="28" name="Text 26"/>
          <p:cNvSpPr/>
          <p:nvPr/>
        </p:nvSpPr>
        <p:spPr>
          <a:xfrm>
            <a:off x="4617720" y="349300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37960" y="3392424"/>
            <a:ext cx="4965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indicators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3959352"/>
            <a:ext cx="10908792" cy="0"/>
          </a:xfrm>
          <a:prstGeom prst="line">
            <a:avLst/>
          </a:prstGeom>
          <a:noFill/>
          <a:ln w="9525">
            <a:solidFill>
              <a:srgbClr val="DCDD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959352"/>
            <a:ext cx="10908792" cy="566928"/>
          </a:xfrm>
          <a:prstGeom prst="rect">
            <a:avLst/>
          </a:prstGeom>
          <a:solidFill>
            <a:srgbClr val="F3F3F1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959352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783080" y="395935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DFIR-2026-0714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617720" y="405993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7F5EA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40599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37960" y="3959352"/>
            <a:ext cx="4965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workstation &amp; domains as Wk 1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0080" y="4526280"/>
            <a:ext cx="10908792" cy="0"/>
          </a:xfrm>
          <a:prstGeom prst="line">
            <a:avLst/>
          </a:prstGeom>
          <a:noFill/>
          <a:ln w="9525">
            <a:solidFill>
              <a:srgbClr val="DCDD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4526280"/>
            <a:ext cx="1090879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452628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783080" y="45262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DFIR-2026-0714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617720" y="4626864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7F5EA"/>
          </a:solidFill>
          <a:ln/>
        </p:spPr>
      </p:sp>
      <p:sp>
        <p:nvSpPr>
          <p:cNvPr id="42" name="Text 40"/>
          <p:cNvSpPr/>
          <p:nvPr/>
        </p:nvSpPr>
        <p:spPr>
          <a:xfrm>
            <a:off x="4617720" y="462686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37960" y="4526280"/>
            <a:ext cx="4965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C2 IP recovered in live memory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0080" y="5093208"/>
            <a:ext cx="10908792" cy="0"/>
          </a:xfrm>
          <a:prstGeom prst="line">
            <a:avLst/>
          </a:prstGeom>
          <a:noFill/>
          <a:ln w="9525">
            <a:solidFill>
              <a:srgbClr val="DCDD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5093208"/>
            <a:ext cx="10908792" cy="566928"/>
          </a:xfrm>
          <a:prstGeom prst="rect">
            <a:avLst/>
          </a:prstGeom>
          <a:solidFill>
            <a:srgbClr val="F3F3F1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509320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783080" y="509320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DFIR-2026-0714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617720" y="519379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7F5EA"/>
          </a:solidFill>
          <a:ln/>
        </p:spPr>
      </p:sp>
      <p:sp>
        <p:nvSpPr>
          <p:cNvPr id="49" name="Text 47"/>
          <p:cNvSpPr/>
          <p:nvPr/>
        </p:nvSpPr>
        <p:spPr>
          <a:xfrm>
            <a:off x="4617720" y="51937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537960" y="5093208"/>
            <a:ext cx="4965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infrastructure, second target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40080" y="5660136"/>
            <a:ext cx="10908792" cy="0"/>
          </a:xfrm>
          <a:prstGeom prst="line">
            <a:avLst/>
          </a:prstGeom>
          <a:noFill/>
          <a:ln w="9525">
            <a:solidFill>
              <a:srgbClr val="DCDD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4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55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56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  <p:sp>
        <p:nvSpPr>
          <p:cNvPr id="57" name="ProgressDot1"/>
          <p:cNvSpPr/>
          <p:nvPr/>
        </p:nvSpPr>
        <p:spPr>
          <a:xfrm>
            <a:off x="56421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58" name="ProgressDot2"/>
          <p:cNvSpPr/>
          <p:nvPr/>
        </p:nvSpPr>
        <p:spPr>
          <a:xfrm>
            <a:off x="57631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59" name="ProgressDot3"/>
          <p:cNvSpPr/>
          <p:nvPr/>
        </p:nvSpPr>
        <p:spPr>
          <a:xfrm>
            <a:off x="58840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60" name="ProgressDot4"/>
          <p:cNvSpPr/>
          <p:nvPr/>
        </p:nvSpPr>
        <p:spPr>
          <a:xfrm>
            <a:off x="6005040" y="175260"/>
            <a:ext cx="60960" cy="6096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sp>
        <p:nvSpPr>
          <p:cNvPr id="61" name="ProgressDot5"/>
          <p:cNvSpPr/>
          <p:nvPr/>
        </p:nvSpPr>
        <p:spPr>
          <a:xfrm>
            <a:off x="612600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62" name="ProgressDot6"/>
          <p:cNvSpPr/>
          <p:nvPr/>
        </p:nvSpPr>
        <p:spPr>
          <a:xfrm>
            <a:off x="62469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63" name="ProgressDot7"/>
          <p:cNvSpPr/>
          <p:nvPr/>
        </p:nvSpPr>
        <p:spPr>
          <a:xfrm>
            <a:off x="63679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64" name="ProgressDot8"/>
          <p:cNvSpPr/>
          <p:nvPr/>
        </p:nvSpPr>
        <p:spPr>
          <a:xfrm>
            <a:off x="64888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2120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11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TIMELINE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 Events, One Continuing Campaign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08792" cy="4160520"/>
          </a:xfrm>
          <a:prstGeom prst="roundRect">
            <a:avLst>
              <a:gd name="adj" fmla="val 1758"/>
            </a:avLst>
          </a:prstGeom>
          <a:solidFill>
            <a:srgbClr val="0E121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68580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Jul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27632" y="180136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17B8AC"/>
          </a:solidFill>
          <a:ln/>
        </p:spPr>
      </p:sp>
      <p:sp>
        <p:nvSpPr>
          <p:cNvPr id="8" name="Text 6"/>
          <p:cNvSpPr/>
          <p:nvPr/>
        </p:nvSpPr>
        <p:spPr>
          <a:xfrm>
            <a:off x="1627632" y="18013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3154680" y="1783080"/>
            <a:ext cx="2848356" cy="562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Credential-harvesting phishing email received by m.tariq (Reply-To: mail-secure-portal.com)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914400" y="2400300"/>
            <a:ext cx="68580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Jul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27632" y="241858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627632" y="241858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3154680" y="2400300"/>
            <a:ext cx="2848356" cy="562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opened (baseline activity)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68580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Jul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27632" y="303580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627632" y="30358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3154680" y="3017520"/>
            <a:ext cx="2848356" cy="562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NexBank employee portal visited (baseline activity)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914400" y="3634740"/>
            <a:ext cx="68580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Jul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27632" y="365302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17B8AC"/>
          </a:solidFill>
          <a:ln/>
        </p:spPr>
      </p:sp>
      <p:sp>
        <p:nvSpPr>
          <p:cNvPr id="20" name="Text 18"/>
          <p:cNvSpPr/>
          <p:nvPr/>
        </p:nvSpPr>
        <p:spPr>
          <a:xfrm>
            <a:off x="1627632" y="36530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3154680" y="3634740"/>
            <a:ext cx="2848356" cy="562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Credential-harvesting verification link from the Week 1 email clicked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914400" y="4251960"/>
            <a:ext cx="68580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Jul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627632" y="427024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17B8AC"/>
          </a:solidFill>
          <a:ln/>
        </p:spPr>
      </p:sp>
      <p:sp>
        <p:nvSpPr>
          <p:cNvPr id="24" name="Text 22"/>
          <p:cNvSpPr/>
          <p:nvPr/>
        </p:nvSpPr>
        <p:spPr>
          <a:xfrm>
            <a:off x="1627632" y="427024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3154680" y="4251960"/>
            <a:ext cx="2848356" cy="562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Second, reward-themed email arrives with Q2_Invoice.pdf.exe attached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914400" y="4869180"/>
            <a:ext cx="68580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Jul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27632" y="488746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17B8AC"/>
          </a:solidFill>
          <a:ln/>
        </p:spPr>
      </p:sp>
      <p:sp>
        <p:nvSpPr>
          <p:cNvPr id="28" name="Text 26"/>
          <p:cNvSpPr/>
          <p:nvPr/>
        </p:nvSpPr>
        <p:spPr>
          <a:xfrm>
            <a:off x="1627632" y="48874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3154680" y="4869180"/>
            <a:ext cx="2848356" cy="562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Reward/lure link visited (freegiftcards-claim.net)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6094476" y="1737360"/>
            <a:ext cx="0" cy="3703320"/>
          </a:xfrm>
          <a:prstGeom prst="line">
            <a:avLst/>
          </a:prstGeom>
          <a:noFill/>
          <a:ln w="12700">
            <a:solidFill>
              <a:srgbClr val="2A32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8796" y="1783080"/>
            <a:ext cx="68580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Jul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82028" y="180136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33" name="Text 31"/>
          <p:cNvSpPr/>
          <p:nvPr/>
        </p:nvSpPr>
        <p:spPr>
          <a:xfrm>
            <a:off x="7082028" y="18013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8609076" y="1783080"/>
            <a:ext cx="2848356" cy="562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Q2_Invoice.pdf.exe downloaded; flagged dangerous by the browser itself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6368796" y="2400300"/>
            <a:ext cx="68580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Jul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82028" y="241858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8B3A62"/>
          </a:solidFill>
          <a:ln/>
        </p:spPr>
      </p:sp>
      <p:sp>
        <p:nvSpPr>
          <p:cNvPr id="37" name="Text 35"/>
          <p:cNvSpPr/>
          <p:nvPr/>
        </p:nvSpPr>
        <p:spPr>
          <a:xfrm>
            <a:off x="7082028" y="241858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/ Cred. Access</a:t>
            </a:r>
            <a:endParaRPr lang="en-US" sz="770" dirty="0"/>
          </a:p>
        </p:txBody>
      </p:sp>
      <p:sp>
        <p:nvSpPr>
          <p:cNvPr id="38" name="Text 36"/>
          <p:cNvSpPr/>
          <p:nvPr/>
        </p:nvSpPr>
        <p:spPr>
          <a:xfrm>
            <a:off x="8609076" y="2400300"/>
            <a:ext cx="2848356" cy="562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connection to raw IP 185.220.101.47 recorded in browser history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6368796" y="3017520"/>
            <a:ext cx="68580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82028" y="303580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8B3A62"/>
          </a:solidFill>
          <a:ln/>
        </p:spPr>
      </p:sp>
      <p:sp>
        <p:nvSpPr>
          <p:cNvPr id="41" name="Text 39"/>
          <p:cNvSpPr/>
          <p:nvPr/>
        </p:nvSpPr>
        <p:spPr>
          <a:xfrm>
            <a:off x="7082028" y="30358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/ Cred. Access</a:t>
            </a:r>
            <a:endParaRPr lang="en-US" sz="770" dirty="0"/>
          </a:p>
        </p:txBody>
      </p:sp>
      <p:sp>
        <p:nvSpPr>
          <p:cNvPr id="42" name="Text 40"/>
          <p:cNvSpPr/>
          <p:nvPr/>
        </p:nvSpPr>
        <p:spPr>
          <a:xfrm>
            <a:off x="8609076" y="3017520"/>
            <a:ext cx="2848356" cy="562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memory recovers active C2 IP reference, a stolen credential, and an exfil marker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6368796" y="3634740"/>
            <a:ext cx="68580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Aug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082028" y="365302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17B8AC"/>
          </a:solidFill>
          <a:ln/>
        </p:spPr>
      </p:sp>
      <p:sp>
        <p:nvSpPr>
          <p:cNvPr id="45" name="Text 43"/>
          <p:cNvSpPr/>
          <p:nvPr/>
        </p:nvSpPr>
        <p:spPr>
          <a:xfrm>
            <a:off x="7082028" y="36530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770" dirty="0"/>
          </a:p>
        </p:txBody>
      </p:sp>
      <p:sp>
        <p:nvSpPr>
          <p:cNvPr id="46" name="Text 44"/>
          <p:cNvSpPr/>
          <p:nvPr/>
        </p:nvSpPr>
        <p:spPr>
          <a:xfrm>
            <a:off x="8609076" y="3634740"/>
            <a:ext cx="2848356" cy="562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Second-wave phishing email received by h.tariq from billing@ look-alike domain</a:t>
            </a:r>
            <a:endParaRPr lang="en-US" sz="930" dirty="0"/>
          </a:p>
        </p:txBody>
      </p:sp>
      <p:sp>
        <p:nvSpPr>
          <p:cNvPr id="47" name="Text 45"/>
          <p:cNvSpPr/>
          <p:nvPr/>
        </p:nvSpPr>
        <p:spPr>
          <a:xfrm>
            <a:off x="6368796" y="4251960"/>
            <a:ext cx="68580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Aug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082028" y="427024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3FA34D"/>
          </a:solidFill>
          <a:ln/>
        </p:spPr>
      </p:sp>
      <p:sp>
        <p:nvSpPr>
          <p:cNvPr id="49" name="Text 47"/>
          <p:cNvSpPr/>
          <p:nvPr/>
        </p:nvSpPr>
        <p:spPr>
          <a:xfrm>
            <a:off x="7082028" y="427024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770" dirty="0"/>
          </a:p>
        </p:txBody>
      </p:sp>
      <p:sp>
        <p:nvSpPr>
          <p:cNvPr id="50" name="Text 48"/>
          <p:cNvSpPr/>
          <p:nvPr/>
        </p:nvSpPr>
        <p:spPr>
          <a:xfrm>
            <a:off x="8609076" y="4251960"/>
            <a:ext cx="2848356" cy="5623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3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matches C2 domain/IP, mutex &amp; persistence-key from wave 2</a:t>
            </a:r>
            <a:endParaRPr lang="en-US" sz="930" dirty="0"/>
          </a:p>
        </p:txBody>
      </p:sp>
      <p:sp>
        <p:nvSpPr>
          <p:cNvPr id="51" name="Text 49"/>
          <p:cNvSpPr/>
          <p:nvPr/>
        </p:nvSpPr>
        <p:spPr>
          <a:xfrm>
            <a:off x="640080" y="5833872"/>
            <a:ext cx="3514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Jul  </a:t>
            </a: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Single-morning compromise cluster: phishing → click → second email → download → hidden C2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337304" y="5833872"/>
            <a:ext cx="3514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  </a:t>
            </a: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memory shows the exact same C2 IP still active, ~30 days later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034528" y="5833872"/>
            <a:ext cx="3514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Aug  </a:t>
            </a: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infrastructure reused against a second employee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6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57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58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  <p:sp>
        <p:nvSpPr>
          <p:cNvPr id="59" name="ProgressDot1"/>
          <p:cNvSpPr/>
          <p:nvPr/>
        </p:nvSpPr>
        <p:spPr>
          <a:xfrm>
            <a:off x="56421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60" name="ProgressDot2"/>
          <p:cNvSpPr/>
          <p:nvPr/>
        </p:nvSpPr>
        <p:spPr>
          <a:xfrm>
            <a:off x="57631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61" name="ProgressDot3"/>
          <p:cNvSpPr/>
          <p:nvPr/>
        </p:nvSpPr>
        <p:spPr>
          <a:xfrm>
            <a:off x="58840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62" name="ProgressDot4"/>
          <p:cNvSpPr/>
          <p:nvPr/>
        </p:nvSpPr>
        <p:spPr>
          <a:xfrm>
            <a:off x="600504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63" name="ProgressDot5"/>
          <p:cNvSpPr/>
          <p:nvPr/>
        </p:nvSpPr>
        <p:spPr>
          <a:xfrm>
            <a:off x="6126000" y="175260"/>
            <a:ext cx="60960" cy="6096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sp>
        <p:nvSpPr>
          <p:cNvPr id="64" name="ProgressDot6"/>
          <p:cNvSpPr/>
          <p:nvPr/>
        </p:nvSpPr>
        <p:spPr>
          <a:xfrm>
            <a:off x="62469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65" name="ProgressDot7"/>
          <p:cNvSpPr/>
          <p:nvPr/>
        </p:nvSpPr>
        <p:spPr>
          <a:xfrm>
            <a:off x="63679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66" name="ProgressDot8"/>
          <p:cNvSpPr/>
          <p:nvPr/>
        </p:nvSpPr>
        <p:spPr>
          <a:xfrm>
            <a:off x="64888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TIMELINE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Attack Chain, Mapped to MITRE ATT&amp;CK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815998" cy="1920240"/>
          </a:xfrm>
          <a:prstGeom prst="roundRect">
            <a:avLst>
              <a:gd name="adj" fmla="val 4028"/>
            </a:avLst>
          </a:prstGeom>
          <a:solidFill>
            <a:srgbClr val="0E1218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487168"/>
            <a:ext cx="152339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Access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6384" y="3337560"/>
            <a:ext cx="15233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(Wk 1, 6)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6078" y="3246120"/>
            <a:ext cx="457200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13278" y="2286000"/>
            <a:ext cx="1815998" cy="1920240"/>
          </a:xfrm>
          <a:prstGeom prst="roundRect">
            <a:avLst>
              <a:gd name="adj" fmla="val 4028"/>
            </a:avLst>
          </a:prstGeom>
          <a:solidFill>
            <a:srgbClr val="2E3646"/>
          </a:solidFill>
          <a:ln/>
        </p:spPr>
      </p:sp>
      <p:sp>
        <p:nvSpPr>
          <p:cNvPr id="10" name="Text 8"/>
          <p:cNvSpPr/>
          <p:nvPr/>
        </p:nvSpPr>
        <p:spPr>
          <a:xfrm>
            <a:off x="3059582" y="2487168"/>
            <a:ext cx="152339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059582" y="3337560"/>
            <a:ext cx="15233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attachment run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(Wk 4)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29277" y="3246120"/>
            <a:ext cx="457200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86477" y="2286000"/>
            <a:ext cx="1815998" cy="1920240"/>
          </a:xfrm>
          <a:prstGeom prst="roundRect">
            <a:avLst>
              <a:gd name="adj" fmla="val 4028"/>
            </a:avLst>
          </a:prstGeom>
          <a:solidFill>
            <a:srgbClr val="8B3A62"/>
          </a:solidFill>
          <a:ln/>
        </p:spPr>
      </p:sp>
      <p:sp>
        <p:nvSpPr>
          <p:cNvPr id="14" name="Text 12"/>
          <p:cNvSpPr/>
          <p:nvPr/>
        </p:nvSpPr>
        <p:spPr>
          <a:xfrm>
            <a:off x="5332781" y="2487168"/>
            <a:ext cx="152339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&amp;</a:t>
            </a:r>
            <a:endParaRPr lang="en-US" sz="15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332781" y="3337560"/>
            <a:ext cx="15233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C2 channel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(Wk 4, 5)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02475" y="3246120"/>
            <a:ext cx="457200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59675" y="2286000"/>
            <a:ext cx="1815998" cy="1920240"/>
          </a:xfrm>
          <a:prstGeom prst="roundRect">
            <a:avLst>
              <a:gd name="adj" fmla="val 4028"/>
            </a:avLst>
          </a:prstGeom>
          <a:solidFill>
            <a:srgbClr val="6B3A52"/>
          </a:solidFill>
          <a:ln/>
        </p:spPr>
      </p:sp>
      <p:sp>
        <p:nvSpPr>
          <p:cNvPr id="18" name="Text 16"/>
          <p:cNvSpPr/>
          <p:nvPr/>
        </p:nvSpPr>
        <p:spPr>
          <a:xfrm>
            <a:off x="7605979" y="2487168"/>
            <a:ext cx="152339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</a:t>
            </a:r>
            <a:endParaRPr lang="en-US" sz="15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605979" y="3337560"/>
            <a:ext cx="15233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admin_backup stolen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(Wk 5)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75674" y="3246120"/>
            <a:ext cx="457200" cy="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32874" y="2286000"/>
            <a:ext cx="1815998" cy="1920240"/>
          </a:xfrm>
          <a:prstGeom prst="roundRect">
            <a:avLst>
              <a:gd name="adj" fmla="val 4028"/>
            </a:avLst>
          </a:prstGeom>
          <a:solidFill>
            <a:srgbClr val="3FA34D"/>
          </a:solidFill>
          <a:ln/>
        </p:spPr>
      </p:sp>
      <p:sp>
        <p:nvSpPr>
          <p:cNvPr id="22" name="Text 20"/>
          <p:cNvSpPr/>
          <p:nvPr/>
        </p:nvSpPr>
        <p:spPr>
          <a:xfrm>
            <a:off x="9879178" y="2487168"/>
            <a:ext cx="152339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879178" y="3337560"/>
            <a:ext cx="15233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IOC match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(Wk 6, 7)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F3F3F1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617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five weeks of independent evidence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8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29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30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  <p:sp>
        <p:nvSpPr>
          <p:cNvPr id="31" name="ProgressDot1"/>
          <p:cNvSpPr/>
          <p:nvPr/>
        </p:nvSpPr>
        <p:spPr>
          <a:xfrm>
            <a:off x="56421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2" name="ProgressDot2"/>
          <p:cNvSpPr/>
          <p:nvPr/>
        </p:nvSpPr>
        <p:spPr>
          <a:xfrm>
            <a:off x="57631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3" name="ProgressDot3"/>
          <p:cNvSpPr/>
          <p:nvPr/>
        </p:nvSpPr>
        <p:spPr>
          <a:xfrm>
            <a:off x="58840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4" name="ProgressDot4"/>
          <p:cNvSpPr/>
          <p:nvPr/>
        </p:nvSpPr>
        <p:spPr>
          <a:xfrm>
            <a:off x="600504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5" name="ProgressDot5"/>
          <p:cNvSpPr/>
          <p:nvPr/>
        </p:nvSpPr>
        <p:spPr>
          <a:xfrm>
            <a:off x="6126000" y="175260"/>
            <a:ext cx="60960" cy="6096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sp>
        <p:nvSpPr>
          <p:cNvPr id="36" name="ProgressDot6"/>
          <p:cNvSpPr/>
          <p:nvPr/>
        </p:nvSpPr>
        <p:spPr>
          <a:xfrm>
            <a:off x="62469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7" name="ProgressDot7"/>
          <p:cNvSpPr/>
          <p:nvPr/>
        </p:nvSpPr>
        <p:spPr>
          <a:xfrm>
            <a:off x="63679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8" name="ProgressDot8"/>
          <p:cNvSpPr/>
          <p:nvPr/>
        </p:nvSpPr>
        <p:spPr>
          <a:xfrm>
            <a:off x="64888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TIMELINE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Infrastructure, Two Waves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095848" y="1764792"/>
            <a:ext cx="0" cy="103327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217420" y="2798064"/>
            <a:ext cx="7626096" cy="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17420" y="2798064"/>
            <a:ext cx="0" cy="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30468" y="2798064"/>
            <a:ext cx="0" cy="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843516" y="2798064"/>
            <a:ext cx="0" cy="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17420" y="2715768"/>
            <a:ext cx="0" cy="39319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030468" y="2715768"/>
            <a:ext cx="0" cy="39319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843516" y="2715768"/>
            <a:ext cx="0" cy="39319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2217420" y="3108960"/>
            <a:ext cx="3813048" cy="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0468" y="3108960"/>
            <a:ext cx="3813048" cy="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23944" y="310896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36992" y="310896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123944" y="3995928"/>
            <a:ext cx="0" cy="62179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936992" y="3995928"/>
            <a:ext cx="0" cy="62179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52648" y="1234440"/>
            <a:ext cx="5486400" cy="530352"/>
          </a:xfrm>
          <a:prstGeom prst="roundRect">
            <a:avLst>
              <a:gd name="adj" fmla="val 10345"/>
            </a:avLst>
          </a:prstGeom>
          <a:solidFill>
            <a:srgbClr val="D64545"/>
          </a:solidFill>
          <a:ln/>
        </p:spPr>
      </p:sp>
      <p:sp>
        <p:nvSpPr>
          <p:cNvPr id="20" name="Text 18"/>
          <p:cNvSpPr/>
          <p:nvPr/>
        </p:nvSpPr>
        <p:spPr>
          <a:xfrm>
            <a:off x="3444088" y="123444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Infrastructure  —  185.220.101.0/24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214884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2B354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23113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secure-it-service.net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2478024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 sender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53128" y="214884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2B3542"/>
          </a:solidFill>
          <a:ln/>
        </p:spPr>
      </p:sp>
      <p:sp>
        <p:nvSpPr>
          <p:cNvPr id="25" name="Text 23"/>
          <p:cNvSpPr/>
          <p:nvPr/>
        </p:nvSpPr>
        <p:spPr>
          <a:xfrm>
            <a:off x="4544568" y="223113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mail-secure-portal.com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44568" y="2478024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harvest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66176" y="2148840"/>
            <a:ext cx="3154680" cy="566928"/>
          </a:xfrm>
          <a:prstGeom prst="roundRect">
            <a:avLst>
              <a:gd name="adj" fmla="val 9677"/>
            </a:avLst>
          </a:prstGeom>
          <a:solidFill>
            <a:srgbClr val="2B3542"/>
          </a:solidFill>
          <a:ln/>
        </p:spPr>
      </p:sp>
      <p:sp>
        <p:nvSpPr>
          <p:cNvPr id="28" name="Text 26"/>
          <p:cNvSpPr/>
          <p:nvPr/>
        </p:nvSpPr>
        <p:spPr>
          <a:xfrm>
            <a:off x="8357616" y="223113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freegiftcards-claim.net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57616" y="2478024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lure, Wk 4/6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340864" y="3429000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0E7C72"/>
          </a:solidFill>
          <a:ln/>
        </p:spPr>
      </p:sp>
      <p:sp>
        <p:nvSpPr>
          <p:cNvPr id="31" name="Text 29"/>
          <p:cNvSpPr/>
          <p:nvPr/>
        </p:nvSpPr>
        <p:spPr>
          <a:xfrm>
            <a:off x="2432304" y="35112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185.220.101.47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432304" y="375818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C2 — Wk 1, 4, 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53912" y="3429000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0E7C72"/>
          </a:solidFill>
          <a:ln/>
        </p:spPr>
      </p:sp>
      <p:sp>
        <p:nvSpPr>
          <p:cNvPr id="34" name="Text 32"/>
          <p:cNvSpPr/>
          <p:nvPr/>
        </p:nvSpPr>
        <p:spPr>
          <a:xfrm>
            <a:off x="6245352" y="35112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185.220.101.62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45352" y="375818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Wave-2 relay — Wk 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40864" y="4617720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8B3A62"/>
          </a:solidFill>
          <a:ln/>
        </p:spPr>
      </p:sp>
      <p:sp>
        <p:nvSpPr>
          <p:cNvPr id="37" name="Text 35"/>
          <p:cNvSpPr/>
          <p:nvPr/>
        </p:nvSpPr>
        <p:spPr>
          <a:xfrm>
            <a:off x="2432304" y="470001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m.tariq@nexbank-corp.com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432304" y="494690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target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53912" y="4617720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8B3A62"/>
          </a:solidFill>
          <a:ln/>
        </p:spPr>
      </p:sp>
      <p:sp>
        <p:nvSpPr>
          <p:cNvPr id="40" name="Text 38"/>
          <p:cNvSpPr/>
          <p:nvPr/>
        </p:nvSpPr>
        <p:spPr>
          <a:xfrm>
            <a:off x="6245352" y="470001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h.tariq@nexbank-corp.com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245352" y="494690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target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" y="5440680"/>
            <a:ext cx="10908792" cy="548640"/>
          </a:xfrm>
          <a:prstGeom prst="roundRect">
            <a:avLst>
              <a:gd name="adj" fmla="val 10000"/>
            </a:avLst>
          </a:prstGeom>
          <a:solidFill>
            <a:srgbClr val="F3F3F1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in live memory: stolen credential admin_backup + exfiltration marker (Wk 5)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6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47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48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  <p:sp>
        <p:nvSpPr>
          <p:cNvPr id="49" name="ProgressDot1"/>
          <p:cNvSpPr/>
          <p:nvPr/>
        </p:nvSpPr>
        <p:spPr>
          <a:xfrm>
            <a:off x="56421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50" name="ProgressDot2"/>
          <p:cNvSpPr/>
          <p:nvPr/>
        </p:nvSpPr>
        <p:spPr>
          <a:xfrm>
            <a:off x="57631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51" name="ProgressDot3"/>
          <p:cNvSpPr/>
          <p:nvPr/>
        </p:nvSpPr>
        <p:spPr>
          <a:xfrm>
            <a:off x="58840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52" name="ProgressDot4"/>
          <p:cNvSpPr/>
          <p:nvPr/>
        </p:nvSpPr>
        <p:spPr>
          <a:xfrm>
            <a:off x="600504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53" name="ProgressDot5"/>
          <p:cNvSpPr/>
          <p:nvPr/>
        </p:nvSpPr>
        <p:spPr>
          <a:xfrm>
            <a:off x="6126000" y="175260"/>
            <a:ext cx="60960" cy="6096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sp>
        <p:nvSpPr>
          <p:cNvPr id="54" name="ProgressDot6"/>
          <p:cNvSpPr/>
          <p:nvPr/>
        </p:nvSpPr>
        <p:spPr>
          <a:xfrm>
            <a:off x="62469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55" name="ProgressDot7"/>
          <p:cNvSpPr/>
          <p:nvPr/>
        </p:nvSpPr>
        <p:spPr>
          <a:xfrm>
            <a:off x="63679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56" name="ProgressDot8"/>
          <p:cNvSpPr/>
          <p:nvPr/>
        </p:nvSpPr>
        <p:spPr>
          <a:xfrm>
            <a:off x="64888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Week Recovered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535174" cy="4343400"/>
          </a:xfrm>
          <a:prstGeom prst="roundRect">
            <a:avLst>
              <a:gd name="adj" fmla="val 2525"/>
            </a:avLst>
          </a:prstGeom>
          <a:solidFill>
            <a:srgbClr val="0E121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21694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216941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Phishing Email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971800"/>
            <a:ext cx="2169414" cy="0"/>
          </a:xfrm>
          <a:prstGeom prst="line">
            <a:avLst/>
          </a:prstGeom>
          <a:noFill/>
          <a:ln w="12700">
            <a:solidFill>
              <a:srgbClr val="2A32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209544"/>
            <a:ext cx="64008" cy="64008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154680"/>
            <a:ext cx="19865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secure-it-service.net (sender)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822960" y="4078224"/>
            <a:ext cx="64008" cy="64008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023360"/>
            <a:ext cx="19865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SPF fail / DKIM none / DMARC fail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2960" y="4946904"/>
            <a:ext cx="64008" cy="64008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892040"/>
            <a:ext cx="19865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185.220.101.47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3431286" y="1737360"/>
            <a:ext cx="2535174" cy="4343400"/>
          </a:xfrm>
          <a:prstGeom prst="roundRect">
            <a:avLst>
              <a:gd name="adj" fmla="val 2525"/>
            </a:avLst>
          </a:prstGeom>
          <a:solidFill>
            <a:srgbClr val="0E1218"/>
          </a:solidFill>
          <a:ln/>
        </p:spPr>
      </p:sp>
      <p:sp>
        <p:nvSpPr>
          <p:cNvPr id="16" name="Text 14"/>
          <p:cNvSpPr/>
          <p:nvPr/>
        </p:nvSpPr>
        <p:spPr>
          <a:xfrm>
            <a:off x="3614166" y="1920240"/>
            <a:ext cx="21694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14166" y="2267712"/>
            <a:ext cx="216941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&amp; Email Forensics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14166" y="2971800"/>
            <a:ext cx="2169414" cy="0"/>
          </a:xfrm>
          <a:prstGeom prst="line">
            <a:avLst/>
          </a:prstGeom>
          <a:noFill/>
          <a:ln w="12700">
            <a:solidFill>
              <a:srgbClr val="2A32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4166" y="3209544"/>
            <a:ext cx="64008" cy="64008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20" name="Text 18"/>
          <p:cNvSpPr/>
          <p:nvPr/>
        </p:nvSpPr>
        <p:spPr>
          <a:xfrm>
            <a:off x="3797046" y="3154680"/>
            <a:ext cx="19865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link + reward link clicked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614166" y="4078224"/>
            <a:ext cx="64008" cy="64008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22" name="Text 20"/>
          <p:cNvSpPr/>
          <p:nvPr/>
        </p:nvSpPr>
        <p:spPr>
          <a:xfrm>
            <a:off x="3797046" y="4023360"/>
            <a:ext cx="19865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Q2_Invoice.pdf.exe downloaded, flagged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3614166" y="4946904"/>
            <a:ext cx="64008" cy="64008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24" name="Text 22"/>
          <p:cNvSpPr/>
          <p:nvPr/>
        </p:nvSpPr>
        <p:spPr>
          <a:xfrm>
            <a:off x="3797046" y="4892040"/>
            <a:ext cx="19865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contact to raw IP recorded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222492" y="1737360"/>
            <a:ext cx="2535174" cy="4343400"/>
          </a:xfrm>
          <a:prstGeom prst="roundRect">
            <a:avLst>
              <a:gd name="adj" fmla="val 2525"/>
            </a:avLst>
          </a:prstGeom>
          <a:solidFill>
            <a:srgbClr val="0E121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5372" y="1920240"/>
            <a:ext cx="21694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5372" y="2267712"/>
            <a:ext cx="216941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Memory Forensics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5372" y="2971800"/>
            <a:ext cx="2169414" cy="0"/>
          </a:xfrm>
          <a:prstGeom prst="line">
            <a:avLst/>
          </a:prstGeom>
          <a:noFill/>
          <a:ln w="12700">
            <a:solidFill>
              <a:srgbClr val="2A32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5372" y="3209544"/>
            <a:ext cx="64008" cy="64008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30" name="Text 28"/>
          <p:cNvSpPr/>
          <p:nvPr/>
        </p:nvSpPr>
        <p:spPr>
          <a:xfrm>
            <a:off x="6588252" y="3154680"/>
            <a:ext cx="19865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C2 IP found active in memory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6405372" y="4078224"/>
            <a:ext cx="64008" cy="64008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32" name="Text 30"/>
          <p:cNvSpPr/>
          <p:nvPr/>
        </p:nvSpPr>
        <p:spPr>
          <a:xfrm>
            <a:off x="6588252" y="4023360"/>
            <a:ext cx="19865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admin_backup credential recovered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05372" y="4946904"/>
            <a:ext cx="64008" cy="64008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34" name="Text 32"/>
          <p:cNvSpPr/>
          <p:nvPr/>
        </p:nvSpPr>
        <p:spPr>
          <a:xfrm>
            <a:off x="6588252" y="4892040"/>
            <a:ext cx="19865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 marker recovered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9013698" y="1737360"/>
            <a:ext cx="2535174" cy="4343400"/>
          </a:xfrm>
          <a:prstGeom prst="roundRect">
            <a:avLst>
              <a:gd name="adj" fmla="val 2525"/>
            </a:avLst>
          </a:prstGeom>
          <a:solidFill>
            <a:srgbClr val="0E1218"/>
          </a:solidFill>
          <a:ln/>
        </p:spPr>
      </p:sp>
      <p:sp>
        <p:nvSpPr>
          <p:cNvPr id="36" name="Text 34"/>
          <p:cNvSpPr/>
          <p:nvPr/>
        </p:nvSpPr>
        <p:spPr>
          <a:xfrm>
            <a:off x="9196578" y="1920240"/>
            <a:ext cx="21694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96578" y="2267712"/>
            <a:ext cx="216941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Second-Wave Phishing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196578" y="2971800"/>
            <a:ext cx="2169414" cy="0"/>
          </a:xfrm>
          <a:prstGeom prst="line">
            <a:avLst/>
          </a:prstGeom>
          <a:noFill/>
          <a:ln w="12700">
            <a:solidFill>
              <a:srgbClr val="2A32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96578" y="3209544"/>
            <a:ext cx="64008" cy="64008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40" name="Text 38"/>
          <p:cNvSpPr/>
          <p:nvPr/>
        </p:nvSpPr>
        <p:spPr>
          <a:xfrm>
            <a:off x="9379458" y="3154680"/>
            <a:ext cx="19865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target, same /24 IP block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9196578" y="4078224"/>
            <a:ext cx="64008" cy="64008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42" name="Text 40"/>
          <p:cNvSpPr/>
          <p:nvPr/>
        </p:nvSpPr>
        <p:spPr>
          <a:xfrm>
            <a:off x="9379458" y="4023360"/>
            <a:ext cx="19865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+ persistence key + drop path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9196578" y="4946904"/>
            <a:ext cx="64008" cy="64008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44" name="Text 42"/>
          <p:cNvSpPr/>
          <p:nvPr/>
        </p:nvSpPr>
        <p:spPr>
          <a:xfrm>
            <a:off x="9379458" y="4892040"/>
            <a:ext cx="198653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URI pattern extracted</a:t>
            </a:r>
            <a:endParaRPr lang="en-US" sz="103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7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48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49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  <p:sp>
        <p:nvSpPr>
          <p:cNvPr id="50" name="ProgressDot1"/>
          <p:cNvSpPr/>
          <p:nvPr/>
        </p:nvSpPr>
        <p:spPr>
          <a:xfrm>
            <a:off x="56421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51" name="ProgressDot2"/>
          <p:cNvSpPr/>
          <p:nvPr/>
        </p:nvSpPr>
        <p:spPr>
          <a:xfrm>
            <a:off x="57631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52" name="ProgressDot3"/>
          <p:cNvSpPr/>
          <p:nvPr/>
        </p:nvSpPr>
        <p:spPr>
          <a:xfrm>
            <a:off x="58840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53" name="ProgressDot4"/>
          <p:cNvSpPr/>
          <p:nvPr/>
        </p:nvSpPr>
        <p:spPr>
          <a:xfrm>
            <a:off x="600504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54" name="ProgressDot5"/>
          <p:cNvSpPr/>
          <p:nvPr/>
        </p:nvSpPr>
        <p:spPr>
          <a:xfrm>
            <a:off x="612600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55" name="ProgressDot6"/>
          <p:cNvSpPr/>
          <p:nvPr/>
        </p:nvSpPr>
        <p:spPr>
          <a:xfrm>
            <a:off x="6246960" y="175260"/>
            <a:ext cx="60960" cy="6096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sp>
        <p:nvSpPr>
          <p:cNvPr id="56" name="ProgressDot7"/>
          <p:cNvSpPr/>
          <p:nvPr/>
        </p:nvSpPr>
        <p:spPr>
          <a:xfrm>
            <a:off x="63679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57" name="ProgressDot8"/>
          <p:cNvSpPr/>
          <p:nvPr/>
        </p:nvSpPr>
        <p:spPr>
          <a:xfrm>
            <a:off x="64888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Consolidated Indicators of Compromise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841248"/>
          </a:xfrm>
          <a:prstGeom prst="roundRect">
            <a:avLst>
              <a:gd name="adj" fmla="val 6522"/>
            </a:avLst>
          </a:prstGeom>
          <a:solidFill>
            <a:srgbClr val="F3F3F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841248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83080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1783080"/>
            <a:ext cx="7251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secure-it-service.net  ·  mail-secure-portal.com  ·  freegiftcards-claim.net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10908792" cy="841248"/>
          </a:xfrm>
          <a:prstGeom prst="roundRect">
            <a:avLst>
              <a:gd name="adj" fmla="val 6522"/>
            </a:avLst>
          </a:prstGeom>
          <a:solidFill>
            <a:srgbClr val="F3F3F1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752344"/>
            <a:ext cx="73152" cy="841248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52344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infrastructure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2752344"/>
            <a:ext cx="7251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185.220.101.47 (C2)   ·   185.220.101.62 (same /24 block)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21608"/>
            <a:ext cx="10908792" cy="841248"/>
          </a:xfrm>
          <a:prstGeom prst="roundRect">
            <a:avLst>
              <a:gd name="adj" fmla="val 6522"/>
            </a:avLst>
          </a:prstGeom>
          <a:solidFill>
            <a:srgbClr val="F3F3F1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721608"/>
            <a:ext cx="73152" cy="841248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721608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files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0" y="3721608"/>
            <a:ext cx="7251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Q2_Invoice.pdf.exe   ·   Mailbox_Storage_Report.xlsm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690872"/>
            <a:ext cx="10908792" cy="841248"/>
          </a:xfrm>
          <a:prstGeom prst="roundRect">
            <a:avLst>
              <a:gd name="adj" fmla="val 6522"/>
            </a:avLst>
          </a:prstGeom>
          <a:solidFill>
            <a:srgbClr val="F3F3F1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690872"/>
            <a:ext cx="73152" cy="841248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690872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4690872"/>
            <a:ext cx="7251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Registry Run key WinStorageSvc   ·   Mutex Global\MSUpdate_9f3ab21c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660136"/>
            <a:ext cx="10908792" cy="841248"/>
          </a:xfrm>
          <a:prstGeom prst="roundRect">
            <a:avLst>
              <a:gd name="adj" fmla="val 6522"/>
            </a:avLst>
          </a:prstGeom>
          <a:solidFill>
            <a:srgbClr val="F3F3F1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5660136"/>
            <a:ext cx="73152" cy="841248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660136"/>
            <a:ext cx="2926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credential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23360" y="5660136"/>
            <a:ext cx="7251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admin_backup — recovered live from process memory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7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28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29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  <p:sp>
        <p:nvSpPr>
          <p:cNvPr id="30" name="ProgressDot1"/>
          <p:cNvSpPr/>
          <p:nvPr/>
        </p:nvSpPr>
        <p:spPr>
          <a:xfrm>
            <a:off x="56421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1" name="ProgressDot2"/>
          <p:cNvSpPr/>
          <p:nvPr/>
        </p:nvSpPr>
        <p:spPr>
          <a:xfrm>
            <a:off x="57631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2" name="ProgressDot3"/>
          <p:cNvSpPr/>
          <p:nvPr/>
        </p:nvSpPr>
        <p:spPr>
          <a:xfrm>
            <a:off x="58840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3" name="ProgressDot4"/>
          <p:cNvSpPr/>
          <p:nvPr/>
        </p:nvSpPr>
        <p:spPr>
          <a:xfrm>
            <a:off x="600504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4" name="ProgressDot5"/>
          <p:cNvSpPr/>
          <p:nvPr/>
        </p:nvSpPr>
        <p:spPr>
          <a:xfrm>
            <a:off x="612600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5" name="ProgressDot6"/>
          <p:cNvSpPr/>
          <p:nvPr/>
        </p:nvSpPr>
        <p:spPr>
          <a:xfrm>
            <a:off x="62469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6" name="ProgressDot7"/>
          <p:cNvSpPr/>
          <p:nvPr/>
        </p:nvSpPr>
        <p:spPr>
          <a:xfrm>
            <a:off x="6367920" y="175260"/>
            <a:ext cx="60960" cy="6096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sp>
        <p:nvSpPr>
          <p:cNvPr id="37" name="ProgressDot8"/>
          <p:cNvSpPr/>
          <p:nvPr/>
        </p:nvSpPr>
        <p:spPr>
          <a:xfrm>
            <a:off x="64888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&amp; Business Impact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532120" cy="4297680"/>
          </a:xfrm>
          <a:prstGeom prst="roundRect">
            <a:avLst>
              <a:gd name="adj" fmla="val 1489"/>
            </a:avLst>
          </a:prstGeom>
          <a:solidFill>
            <a:srgbClr val="F3F3F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642616"/>
            <a:ext cx="82296" cy="82296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603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DMARC set to quarantine, not enforced as reject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511296"/>
            <a:ext cx="82296" cy="82296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290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egress filtering to catch the raw-IP C2 connection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379976"/>
            <a:ext cx="82296" cy="82296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29768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gap: compromise → discovery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5248656"/>
            <a:ext cx="82296" cy="82296"/>
          </a:xfrm>
          <a:prstGeom prst="ellipse">
            <a:avLst/>
          </a:prstGeom>
          <a:solidFill>
            <a:srgbClr val="17B8AC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16636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First-wave infrastructure never blocklisted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791872"/>
            <a:ext cx="5148072" cy="4297680"/>
          </a:xfrm>
          <a:prstGeom prst="roundRect">
            <a:avLst>
              <a:gd name="adj" fmla="val 1489"/>
            </a:avLst>
          </a:prstGeom>
          <a:solidFill>
            <a:srgbClr val="0E1218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011680"/>
            <a:ext cx="4599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2560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62872" y="2615184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19" name="Text 17"/>
          <p:cNvSpPr/>
          <p:nvPr/>
        </p:nvSpPr>
        <p:spPr>
          <a:xfrm>
            <a:off x="9262872" y="26151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3429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62872" y="3483864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9262872" y="348386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4297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262872" y="4352544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3FA34D"/>
          </a:solidFill>
          <a:ln/>
        </p:spPr>
      </p:sp>
      <p:sp>
        <p:nvSpPr>
          <p:cNvPr id="25" name="Text 23"/>
          <p:cNvSpPr/>
          <p:nvPr/>
        </p:nvSpPr>
        <p:spPr>
          <a:xfrm>
            <a:off x="9262872" y="435254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(so far)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5166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262872" y="5221224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28" name="Text 26"/>
          <p:cNvSpPr/>
          <p:nvPr/>
        </p:nvSpPr>
        <p:spPr>
          <a:xfrm>
            <a:off x="9262872" y="522122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(~30 days)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1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32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33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  <p:sp>
        <p:nvSpPr>
          <p:cNvPr id="34" name="ProgressDot1"/>
          <p:cNvSpPr/>
          <p:nvPr/>
        </p:nvSpPr>
        <p:spPr>
          <a:xfrm>
            <a:off x="56421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5" name="ProgressDot2"/>
          <p:cNvSpPr/>
          <p:nvPr/>
        </p:nvSpPr>
        <p:spPr>
          <a:xfrm>
            <a:off x="57631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6" name="ProgressDot3"/>
          <p:cNvSpPr/>
          <p:nvPr/>
        </p:nvSpPr>
        <p:spPr>
          <a:xfrm>
            <a:off x="58840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7" name="ProgressDot4"/>
          <p:cNvSpPr/>
          <p:nvPr/>
        </p:nvSpPr>
        <p:spPr>
          <a:xfrm>
            <a:off x="600504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8" name="ProgressDot5"/>
          <p:cNvSpPr/>
          <p:nvPr/>
        </p:nvSpPr>
        <p:spPr>
          <a:xfrm>
            <a:off x="612600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9" name="ProgressDot6"/>
          <p:cNvSpPr/>
          <p:nvPr/>
        </p:nvSpPr>
        <p:spPr>
          <a:xfrm>
            <a:off x="62469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0" name="ProgressDot7"/>
          <p:cNvSpPr/>
          <p:nvPr/>
        </p:nvSpPr>
        <p:spPr>
          <a:xfrm>
            <a:off x="6367920" y="175260"/>
            <a:ext cx="60960" cy="6096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sp>
        <p:nvSpPr>
          <p:cNvPr id="41" name="ProgressDot8"/>
          <p:cNvSpPr/>
          <p:nvPr/>
        </p:nvSpPr>
        <p:spPr>
          <a:xfrm>
            <a:off x="64888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LIFECYCLE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Incident to NIST SP 800-61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663440" y="2267712"/>
            <a:ext cx="559616" cy="0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5223056" y="2267712"/>
            <a:ext cx="0" cy="918972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223056" y="4290822"/>
            <a:ext cx="0" cy="930402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4663440" y="5216652"/>
            <a:ext cx="559616" cy="4572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239012" y="5221224"/>
            <a:ext cx="909828" cy="0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4394" y="4251960"/>
            <a:ext cx="0" cy="1005840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239012" y="2267712"/>
            <a:ext cx="0" cy="873252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9012" y="2267712"/>
            <a:ext cx="909828" cy="0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18538" y="3255264"/>
            <a:ext cx="169164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DD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18538" y="3243129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SP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800-61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48840" y="1664208"/>
            <a:ext cx="2514600" cy="1207008"/>
          </a:xfrm>
          <a:prstGeom prst="roundRect">
            <a:avLst>
              <a:gd name="adj" fmla="val 4545"/>
            </a:avLst>
          </a:prstGeom>
          <a:solidFill>
            <a:srgbClr val="0E1218"/>
          </a:solidFill>
          <a:ln/>
        </p:spPr>
      </p:sp>
      <p:sp>
        <p:nvSpPr>
          <p:cNvPr id="16" name="Text 14"/>
          <p:cNvSpPr/>
          <p:nvPr/>
        </p:nvSpPr>
        <p:spPr>
          <a:xfrm>
            <a:off x="2295144" y="1773936"/>
            <a:ext cx="222199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Preparation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95144" y="2322576"/>
            <a:ext cx="22219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Tooling, hashing procedures, evidence-handling standards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344612" y="3234690"/>
            <a:ext cx="2210280" cy="1019555"/>
          </a:xfrm>
          <a:prstGeom prst="roundRect">
            <a:avLst>
              <a:gd name="adj" fmla="val 4545"/>
            </a:avLst>
          </a:prstGeom>
          <a:solidFill>
            <a:srgbClr val="0E7C7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61644" y="3268980"/>
            <a:ext cx="222199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Detection &amp; Analysis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06196" y="3735324"/>
            <a:ext cx="22219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1, 4, 5, 6 investigative work (this internship)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148840" y="4617720"/>
            <a:ext cx="2514600" cy="1207008"/>
          </a:xfrm>
          <a:prstGeom prst="roundRect">
            <a:avLst>
              <a:gd name="adj" fmla="val 4545"/>
            </a:avLst>
          </a:prstGeom>
          <a:solidFill>
            <a:srgbClr val="6B3A52"/>
          </a:solidFill>
          <a:ln/>
        </p:spPr>
      </p:sp>
      <p:sp>
        <p:nvSpPr>
          <p:cNvPr id="22" name="Text 20"/>
          <p:cNvSpPr/>
          <p:nvPr/>
        </p:nvSpPr>
        <p:spPr>
          <a:xfrm>
            <a:off x="2295144" y="4727448"/>
            <a:ext cx="222199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Containment, Eradication</a:t>
            </a:r>
            <a:endParaRPr lang="en-US" sz="11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Recovery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295144" y="5276088"/>
            <a:ext cx="22219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host, block IOCs, remove persistence, reset credentials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195675" y="3185277"/>
            <a:ext cx="2156915" cy="1075825"/>
          </a:xfrm>
          <a:prstGeom prst="roundRect">
            <a:avLst>
              <a:gd name="adj" fmla="val 4545"/>
            </a:avLst>
          </a:prstGeom>
          <a:solidFill>
            <a:srgbClr val="2B354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8328" y="3214116"/>
            <a:ext cx="222199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Post-Incident Activity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8620" y="3553851"/>
            <a:ext cx="22219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learned, control gaps, recommendations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6720840" y="1965960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Preparation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2350008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23500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in place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20840" y="3017520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Detection &amp; Analysis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20840" y="3401568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FA34D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34015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20840" y="4069080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Containment/Eradication/Recovery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720840" y="4453128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35" name="Text 33"/>
          <p:cNvSpPr/>
          <p:nvPr/>
        </p:nvSpPr>
        <p:spPr>
          <a:xfrm>
            <a:off x="6720840" y="44531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performed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20840" y="5120640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Post-Incident Activity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720840" y="5504688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55046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performed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1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42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43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  <p:sp>
        <p:nvSpPr>
          <p:cNvPr id="44" name="ProgressDot1"/>
          <p:cNvSpPr/>
          <p:nvPr/>
        </p:nvSpPr>
        <p:spPr>
          <a:xfrm>
            <a:off x="56421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5" name="ProgressDot2"/>
          <p:cNvSpPr/>
          <p:nvPr/>
        </p:nvSpPr>
        <p:spPr>
          <a:xfrm>
            <a:off x="57631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6" name="ProgressDot3"/>
          <p:cNvSpPr/>
          <p:nvPr/>
        </p:nvSpPr>
        <p:spPr>
          <a:xfrm>
            <a:off x="58840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7" name="ProgressDot4"/>
          <p:cNvSpPr/>
          <p:nvPr/>
        </p:nvSpPr>
        <p:spPr>
          <a:xfrm>
            <a:off x="600504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8" name="ProgressDot5"/>
          <p:cNvSpPr/>
          <p:nvPr/>
        </p:nvSpPr>
        <p:spPr>
          <a:xfrm>
            <a:off x="612600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49" name="ProgressDot6"/>
          <p:cNvSpPr/>
          <p:nvPr/>
        </p:nvSpPr>
        <p:spPr>
          <a:xfrm>
            <a:off x="62469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50" name="ProgressDot7"/>
          <p:cNvSpPr/>
          <p:nvPr/>
        </p:nvSpPr>
        <p:spPr>
          <a:xfrm>
            <a:off x="63679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51" name="ProgressDot8"/>
          <p:cNvSpPr/>
          <p:nvPr/>
        </p:nvSpPr>
        <p:spPr>
          <a:xfrm>
            <a:off x="6488880" y="175260"/>
            <a:ext cx="60960" cy="6096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94376" cy="4343400"/>
          </a:xfrm>
          <a:prstGeom prst="roundRect">
            <a:avLst>
              <a:gd name="adj" fmla="val 1474"/>
            </a:avLst>
          </a:prstGeom>
          <a:solidFill>
            <a:srgbClr val="0E121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4745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Containment, Eradication &amp; Recovery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1635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7B8AC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2734056"/>
            <a:ext cx="44714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affected hosts; rebuild from known-clean images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5935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7B8AC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3511296"/>
            <a:ext cx="44714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185.220.101.0/24 and all lure domains at firewall/DNS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3708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7B8AC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4288536"/>
            <a:ext cx="44714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m.tariq, h.tariq, and admin_backup credentials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514807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7B8AC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5065776"/>
            <a:ext cx="44714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7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org-wide for the mutex, drop path &amp; beacon pattern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54496" y="1737360"/>
            <a:ext cx="5294376" cy="4343400"/>
          </a:xfrm>
          <a:prstGeom prst="roundRect">
            <a:avLst>
              <a:gd name="adj" fmla="val 1474"/>
            </a:avLst>
          </a:prstGeom>
          <a:solidFill>
            <a:srgbClr val="F3F3F1"/>
          </a:solidFill>
          <a:ln/>
        </p:spPr>
      </p:sp>
      <p:sp>
        <p:nvSpPr>
          <p:cNvPr id="16" name="Text 14"/>
          <p:cNvSpPr/>
          <p:nvPr/>
        </p:nvSpPr>
        <p:spPr>
          <a:xfrm>
            <a:off x="6528816" y="1965960"/>
            <a:ext cx="4745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E7C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Post-Incident Activity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28816" y="281635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E7C72"/>
          </a:solidFill>
          <a:ln/>
        </p:spPr>
      </p:sp>
      <p:sp>
        <p:nvSpPr>
          <p:cNvPr id="18" name="Text 16"/>
          <p:cNvSpPr/>
          <p:nvPr/>
        </p:nvSpPr>
        <p:spPr>
          <a:xfrm>
            <a:off x="6784848" y="2734056"/>
            <a:ext cx="44714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the detection gap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28816" y="359359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E7C72"/>
          </a:solidFill>
          <a:ln/>
        </p:spPr>
      </p:sp>
      <p:sp>
        <p:nvSpPr>
          <p:cNvPr id="20" name="Text 18"/>
          <p:cNvSpPr/>
          <p:nvPr/>
        </p:nvSpPr>
        <p:spPr>
          <a:xfrm>
            <a:off x="6784848" y="3511296"/>
            <a:ext cx="44714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DMARC reject (not quarantine)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28816" y="43708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E7C72"/>
          </a:solidFill>
          <a:ln/>
        </p:spPr>
      </p:sp>
      <p:sp>
        <p:nvSpPr>
          <p:cNvPr id="22" name="Text 20"/>
          <p:cNvSpPr/>
          <p:nvPr/>
        </p:nvSpPr>
        <p:spPr>
          <a:xfrm>
            <a:off x="6784848" y="4288536"/>
            <a:ext cx="44714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repeated contact to one external IP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28816" y="514807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E7C72"/>
          </a:solidFill>
          <a:ln/>
        </p:spPr>
      </p:sp>
      <p:sp>
        <p:nvSpPr>
          <p:cNvPr id="24" name="Text 22"/>
          <p:cNvSpPr/>
          <p:nvPr/>
        </p:nvSpPr>
        <p:spPr>
          <a:xfrm>
            <a:off x="6784848" y="5065776"/>
            <a:ext cx="447141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phishing-awareness training on both lures used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7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28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29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  <p:sp>
        <p:nvSpPr>
          <p:cNvPr id="30" name="ProgressDot1"/>
          <p:cNvSpPr/>
          <p:nvPr/>
        </p:nvSpPr>
        <p:spPr>
          <a:xfrm>
            <a:off x="56421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1" name="ProgressDot2"/>
          <p:cNvSpPr/>
          <p:nvPr/>
        </p:nvSpPr>
        <p:spPr>
          <a:xfrm>
            <a:off x="57631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2" name="ProgressDot3"/>
          <p:cNvSpPr/>
          <p:nvPr/>
        </p:nvSpPr>
        <p:spPr>
          <a:xfrm>
            <a:off x="588408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3" name="ProgressDot4"/>
          <p:cNvSpPr/>
          <p:nvPr/>
        </p:nvSpPr>
        <p:spPr>
          <a:xfrm>
            <a:off x="600504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4" name="ProgressDot5"/>
          <p:cNvSpPr/>
          <p:nvPr/>
        </p:nvSpPr>
        <p:spPr>
          <a:xfrm>
            <a:off x="612600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5" name="ProgressDot6"/>
          <p:cNvSpPr/>
          <p:nvPr/>
        </p:nvSpPr>
        <p:spPr>
          <a:xfrm>
            <a:off x="624696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6" name="ProgressDot7"/>
          <p:cNvSpPr/>
          <p:nvPr/>
        </p:nvSpPr>
        <p:spPr>
          <a:xfrm>
            <a:off x="6367920" y="175260"/>
            <a:ext cx="60960" cy="60960"/>
          </a:xfrm>
          <a:prstGeom prst="ellipse">
            <a:avLst/>
          </a:prstGeom>
          <a:solidFill>
            <a:srgbClr val="D8DBE0"/>
          </a:solidFill>
          <a:ln>
            <a:noFill/>
          </a:ln>
        </p:spPr>
      </p:sp>
      <p:sp>
        <p:nvSpPr>
          <p:cNvPr id="37" name="ProgressDot8"/>
          <p:cNvSpPr/>
          <p:nvPr/>
        </p:nvSpPr>
        <p:spPr>
          <a:xfrm>
            <a:off x="6488880" y="175260"/>
            <a:ext cx="60960" cy="6096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Tools Across the Internship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65576" cy="2011680"/>
          </a:xfrm>
          <a:prstGeom prst="roundRect">
            <a:avLst>
              <a:gd name="adj" fmla="val 3182"/>
            </a:avLst>
          </a:prstGeom>
          <a:solidFill>
            <a:srgbClr val="F3F3F1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984248"/>
            <a:ext cx="457200" cy="457200"/>
          </a:xfrm>
          <a:prstGeom prst="ellipse">
            <a:avLst/>
          </a:prstGeom>
          <a:solidFill>
            <a:srgbClr val="0E1218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Handling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CoC, hashing, order of volatility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61688" y="1783080"/>
            <a:ext cx="3465576" cy="2011680"/>
          </a:xfrm>
          <a:prstGeom prst="roundRect">
            <a:avLst>
              <a:gd name="adj" fmla="val 3182"/>
            </a:avLst>
          </a:prstGeom>
          <a:solidFill>
            <a:srgbClr val="F3F3F1"/>
          </a:solidFill>
          <a:ln/>
        </p:spPr>
      </p:sp>
      <p:sp>
        <p:nvSpPr>
          <p:cNvPr id="11" name="Shape 9"/>
          <p:cNvSpPr/>
          <p:nvPr/>
        </p:nvSpPr>
        <p:spPr>
          <a:xfrm>
            <a:off x="4562856" y="1984248"/>
            <a:ext cx="457200" cy="457200"/>
          </a:xfrm>
          <a:prstGeom prst="ellipse">
            <a:avLst/>
          </a:prstGeom>
          <a:solidFill>
            <a:srgbClr val="0E1218"/>
          </a:solidFill>
          <a:ln/>
        </p:spPr>
      </p:sp>
      <p:sp>
        <p:nvSpPr>
          <p:cNvPr id="12" name="Text 10"/>
          <p:cNvSpPr/>
          <p:nvPr/>
        </p:nvSpPr>
        <p:spPr>
          <a:xfrm>
            <a:off x="4562856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2856" y="26060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Imaging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62856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dd, The Sleuth Kit, Autopsy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83296" y="1783080"/>
            <a:ext cx="3465576" cy="2011680"/>
          </a:xfrm>
          <a:prstGeom prst="roundRect">
            <a:avLst>
              <a:gd name="adj" fmla="val 3182"/>
            </a:avLst>
          </a:prstGeom>
          <a:solidFill>
            <a:srgbClr val="F3F3F1"/>
          </a:solidFill>
          <a:ln/>
        </p:spPr>
      </p:sp>
      <p:sp>
        <p:nvSpPr>
          <p:cNvPr id="16" name="Shape 14"/>
          <p:cNvSpPr/>
          <p:nvPr/>
        </p:nvSpPr>
        <p:spPr>
          <a:xfrm>
            <a:off x="8284464" y="1984248"/>
            <a:ext cx="457200" cy="457200"/>
          </a:xfrm>
          <a:prstGeom prst="ellipse">
            <a:avLst/>
          </a:prstGeom>
          <a:solidFill>
            <a:srgbClr val="0E1218"/>
          </a:solidFill>
          <a:ln/>
        </p:spPr>
      </p:sp>
      <p:sp>
        <p:nvSpPr>
          <p:cNvPr id="17" name="Text 15"/>
          <p:cNvSpPr/>
          <p:nvPr/>
        </p:nvSpPr>
        <p:spPr>
          <a:xfrm>
            <a:off x="8284464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84464" y="26060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84464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Viewer, PowerShell, wevtutil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3465576" cy="2011680"/>
          </a:xfrm>
          <a:prstGeom prst="roundRect">
            <a:avLst>
              <a:gd name="adj" fmla="val 3182"/>
            </a:avLst>
          </a:prstGeom>
          <a:solidFill>
            <a:srgbClr val="F3F3F1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4224528"/>
            <a:ext cx="457200" cy="457200"/>
          </a:xfrm>
          <a:prstGeom prst="ellipse">
            <a:avLst/>
          </a:prstGeom>
          <a:solidFill>
            <a:srgbClr val="0E1218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48463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Browser/Email Forensics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5257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sqlite3, Python email parsing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61688" y="4023360"/>
            <a:ext cx="3465576" cy="2011680"/>
          </a:xfrm>
          <a:prstGeom prst="roundRect">
            <a:avLst>
              <a:gd name="adj" fmla="val 3182"/>
            </a:avLst>
          </a:prstGeom>
          <a:solidFill>
            <a:srgbClr val="F3F3F1"/>
          </a:solidFill>
          <a:ln/>
        </p:spPr>
      </p:sp>
      <p:sp>
        <p:nvSpPr>
          <p:cNvPr id="26" name="Shape 24"/>
          <p:cNvSpPr/>
          <p:nvPr/>
        </p:nvSpPr>
        <p:spPr>
          <a:xfrm>
            <a:off x="4562856" y="4224528"/>
            <a:ext cx="457200" cy="457200"/>
          </a:xfrm>
          <a:prstGeom prst="ellipse">
            <a:avLst/>
          </a:prstGeom>
          <a:solidFill>
            <a:srgbClr val="0E1218"/>
          </a:solidFill>
          <a:ln/>
        </p:spPr>
      </p:sp>
      <p:sp>
        <p:nvSpPr>
          <p:cNvPr id="27" name="Text 25"/>
          <p:cNvSpPr/>
          <p:nvPr/>
        </p:nvSpPr>
        <p:spPr>
          <a:xfrm>
            <a:off x="4562856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62856" y="48463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Forensics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62856" y="5257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gcore, strings, Volatility 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83296" y="4023360"/>
            <a:ext cx="3465576" cy="2011680"/>
          </a:xfrm>
          <a:prstGeom prst="roundRect">
            <a:avLst>
              <a:gd name="adj" fmla="val 3182"/>
            </a:avLst>
          </a:prstGeom>
          <a:solidFill>
            <a:srgbClr val="F3F3F1"/>
          </a:solidFill>
          <a:ln/>
        </p:spPr>
      </p:sp>
      <p:sp>
        <p:nvSpPr>
          <p:cNvPr id="31" name="Shape 29"/>
          <p:cNvSpPr/>
          <p:nvPr/>
        </p:nvSpPr>
        <p:spPr>
          <a:xfrm>
            <a:off x="8284464" y="4224528"/>
            <a:ext cx="457200" cy="457200"/>
          </a:xfrm>
          <a:prstGeom prst="ellipse">
            <a:avLst/>
          </a:prstGeom>
          <a:solidFill>
            <a:srgbClr val="0E1218"/>
          </a:solidFill>
          <a:ln/>
        </p:spPr>
      </p:sp>
      <p:sp>
        <p:nvSpPr>
          <p:cNvPr id="32" name="Text 30"/>
          <p:cNvSpPr/>
          <p:nvPr/>
        </p:nvSpPr>
        <p:spPr>
          <a:xfrm>
            <a:off x="8284464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84464" y="48463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Triage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84464" y="52578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IOC extraction, no execution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7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38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39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3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 Achieved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F3F3F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47672"/>
            <a:ext cx="329184" cy="32918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47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783080"/>
            <a:ext cx="9994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digital forensics process model &amp; NIST SP 800-61 lifecycle to a real, multi-week investigation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697480"/>
            <a:ext cx="329184" cy="32918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532888"/>
            <a:ext cx="9994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maintain a defensible Chain of Custody with hashing at every step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282696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F3F3F1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447288"/>
            <a:ext cx="329184" cy="32918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47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282696"/>
            <a:ext cx="9994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and examine disk images, live memory, browser and email evidence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032504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4197096"/>
            <a:ext cx="329184" cy="32918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970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4032504"/>
            <a:ext cx="9994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scope a multi-source investigation — merge what belongs, exclude what doesn’t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782312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F3F3F1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4946904"/>
            <a:ext cx="329184" cy="32918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9469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4782312"/>
            <a:ext cx="9994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and correlate timestamps across sources while preserving honest confidence levels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532120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5696712"/>
            <a:ext cx="329184" cy="329184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696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532120"/>
            <a:ext cx="9994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3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technical findings into prioritized, actionable stakeholder recommendations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1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32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33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66928"/>
            <a:ext cx="100584" cy="100584"/>
          </a:xfrm>
          <a:prstGeom prst="rect">
            <a:avLst/>
          </a:prstGeom>
          <a:solidFill>
            <a:srgbClr val="17B8AC"/>
          </a:solidFill>
          <a:ln/>
        </p:spPr>
      </p:sp>
      <p:sp>
        <p:nvSpPr>
          <p:cNvPr id="4" name="Text 2"/>
          <p:cNvSpPr/>
          <p:nvPr/>
        </p:nvSpPr>
        <p:spPr>
          <a:xfrm>
            <a:off x="1024128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7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" y="77724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DFIR : Closed for Investigation,</a:t>
            </a:r>
            <a:endParaRPr lang="en-US" sz="27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for Response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2484882" cy="1051560"/>
          </a:xfrm>
          <a:prstGeom prst="roundRect">
            <a:avLst>
              <a:gd name="adj" fmla="val 6087"/>
            </a:avLst>
          </a:prstGeom>
          <a:solidFill>
            <a:srgbClr val="171D26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276856"/>
            <a:ext cx="21556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0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Preparation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87552" y="2816352"/>
            <a:ext cx="2155698" cy="27432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816352"/>
            <a:ext cx="21556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in place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09010" y="2148840"/>
            <a:ext cx="2484882" cy="1051560"/>
          </a:xfrm>
          <a:prstGeom prst="roundRect">
            <a:avLst>
              <a:gd name="adj" fmla="val 6087"/>
            </a:avLst>
          </a:prstGeom>
          <a:solidFill>
            <a:srgbClr val="171D26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3602" y="2276856"/>
            <a:ext cx="21556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0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Detection &amp;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73602" y="2816352"/>
            <a:ext cx="2155698" cy="274320"/>
          </a:xfrm>
          <a:prstGeom prst="roundRect">
            <a:avLst>
              <a:gd name="adj" fmla="val 50000"/>
            </a:avLst>
          </a:prstGeom>
          <a:solidFill>
            <a:srgbClr val="3FA34D"/>
          </a:solidFill>
          <a:ln/>
        </p:spPr>
      </p:sp>
      <p:sp>
        <p:nvSpPr>
          <p:cNvPr id="13" name="Text 11"/>
          <p:cNvSpPr/>
          <p:nvPr/>
        </p:nvSpPr>
        <p:spPr>
          <a:xfrm>
            <a:off x="3673602" y="2816352"/>
            <a:ext cx="21556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95060" y="2148840"/>
            <a:ext cx="2484882" cy="1051560"/>
          </a:xfrm>
          <a:prstGeom prst="roundRect">
            <a:avLst>
              <a:gd name="adj" fmla="val 6087"/>
            </a:avLst>
          </a:prstGeom>
          <a:solidFill>
            <a:srgbClr val="171D26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9652" y="2276856"/>
            <a:ext cx="21556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0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Containment, Eradication &amp; Recovery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9652" y="2816352"/>
            <a:ext cx="2155698" cy="274320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359652" y="2816352"/>
            <a:ext cx="21556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81110" y="2148840"/>
            <a:ext cx="2484882" cy="1051560"/>
          </a:xfrm>
          <a:prstGeom prst="roundRect">
            <a:avLst>
              <a:gd name="adj" fmla="val 6087"/>
            </a:avLst>
          </a:prstGeom>
          <a:solidFill>
            <a:srgbClr val="171D26"/>
          </a:solidFill>
          <a:ln w="12700">
            <a:solidFill>
              <a:srgbClr val="2A32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45702" y="2276856"/>
            <a:ext cx="21556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0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Post-Incident Activity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45702" y="2816352"/>
            <a:ext cx="2155698" cy="274320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/>
        </p:spPr>
      </p:sp>
      <p:sp>
        <p:nvSpPr>
          <p:cNvPr id="21" name="Text 19"/>
          <p:cNvSpPr/>
          <p:nvPr/>
        </p:nvSpPr>
        <p:spPr>
          <a:xfrm>
            <a:off x="9045702" y="2816352"/>
            <a:ext cx="21556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" y="3520440"/>
            <a:ext cx="10543032" cy="0"/>
          </a:xfrm>
          <a:prstGeom prst="line">
            <a:avLst/>
          </a:prstGeom>
          <a:noFill/>
          <a:ln w="12700">
            <a:solidFill>
              <a:srgbClr val="2A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70332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Analysis is complete. Containment, Eradication, Recovery, and Post-Incident Activity are the organization’s immediate next steps.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572000"/>
            <a:ext cx="24643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22960" y="5102352"/>
            <a:ext cx="24643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correlated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15868" y="4572000"/>
            <a:ext cx="24643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3515868" y="5102352"/>
            <a:ext cx="24643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weeks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08776" y="4572000"/>
            <a:ext cx="24643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208776" y="5102352"/>
            <a:ext cx="24643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waves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01684" y="4572000"/>
            <a:ext cx="24643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B8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901684" y="5102352"/>
            <a:ext cx="24643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C2 infrastructure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" y="5440680"/>
            <a:ext cx="10543032" cy="0"/>
          </a:xfrm>
          <a:prstGeom prst="line">
            <a:avLst/>
          </a:prstGeom>
          <a:noFill/>
          <a:ln w="12700">
            <a:solidFill>
              <a:srgbClr val="2A32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577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22960" y="60533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evidence, scripts, and weekly reports:  github.com/yusrafarooq112233/Digital-Forensics-Incident-Response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DFIR  |  Final Incident Investigation Briefing  |  Week 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8735" y="65105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7" name="SectionBadge"/>
          <p:cNvSpPr/>
          <p:nvPr/>
        </p:nvSpPr>
        <p:spPr>
          <a:xfrm>
            <a:off x="11231880" y="297180"/>
            <a:ext cx="502920" cy="502920"/>
          </a:xfrm>
          <a:prstGeom prst="ellipse">
            <a:avLst/>
          </a:prstGeom>
          <a:solidFill>
            <a:srgbClr val="17B8AC"/>
          </a:solidFill>
          <a:ln>
            <a:noFill/>
          </a:ln>
        </p:spPr>
      </p:sp>
      <p:pic>
        <p:nvPicPr>
          <p:cNvPr id="38" name="Section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324" y="420624"/>
            <a:ext cx="256032" cy="256032"/>
          </a:xfrm>
          <a:prstGeom prst="rect">
            <a:avLst/>
          </a:prstGeom>
        </p:spPr>
      </p:pic>
      <p:sp>
        <p:nvSpPr>
          <p:cNvPr id="39" name="BackToAgenda">
            <a:hlinkClick r:id="rId4" action="ppaction://hlinksldjump"/>
          </p:cNvPr>
          <p:cNvSpPr/>
          <p:nvPr/>
        </p:nvSpPr>
        <p:spPr>
          <a:xfrm>
            <a:off x="9668735" y="6510528"/>
            <a:ext cx="16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7B8AC"/>
                </a:solidFill>
                <a:latin typeface="Calibri" pitchFamily="34" charset="0"/>
              </a:rPr>
              <a:t>‹ Back to Agenda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1905</Words>
  <Application>Microsoft Office PowerPoint</Application>
  <PresentationFormat>Widescreen</PresentationFormat>
  <Paragraphs>453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Yusra Farooq</cp:lastModifiedBy>
  <cp:revision>10</cp:revision>
  <dcterms:created xsi:type="dcterms:W3CDTF">2026-09-04T11:56:16Z</dcterms:created>
  <dcterms:modified xsi:type="dcterms:W3CDTF">2026-09-04T18:56:55Z</dcterms:modified>
</cp:coreProperties>
</file>